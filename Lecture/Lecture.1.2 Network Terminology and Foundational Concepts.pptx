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4" r:id="rId7"/>
    <p:sldId id="262" r:id="rId8"/>
    <p:sldId id="263" r:id="rId9"/>
    <p:sldId id="265" r:id="rId10"/>
    <p:sldId id="266" r:id="rId11"/>
    <p:sldId id="267" r:id="rId12"/>
    <p:sldId id="268" r:id="rId13"/>
    <p:sldId id="270" r:id="rId14"/>
    <p:sldId id="269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FD0860-8EDF-3541-B1E1-AA728CC40D1B}" v="11" dt="2025-01-15T07:50:58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8"/>
  </p:normalViewPr>
  <p:slideViewPr>
    <p:cSldViewPr snapToGrid="0">
      <p:cViewPr>
        <p:scale>
          <a:sx n="121" d="100"/>
          <a:sy n="121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6908E9-C0C3-472D-AFDA-1231AF5B341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B906958-769B-44BA-B27B-76B01E876582}">
      <dgm:prSet/>
      <dgm:spPr/>
      <dgm:t>
        <a:bodyPr/>
        <a:lstStyle/>
        <a:p>
          <a:r>
            <a:rPr lang="en-US" b="1"/>
            <a:t>Application layer</a:t>
          </a:r>
          <a:r>
            <a:rPr lang="en-US"/>
            <a:t> – This is where applications such as browsers, email clients, etc. work. </a:t>
          </a:r>
        </a:p>
      </dgm:t>
    </dgm:pt>
    <dgm:pt modelId="{22C89D38-7005-4A55-B747-787DCAC30BAF}" type="parTrans" cxnId="{62F95A07-1460-46C1-831E-09816DF45E11}">
      <dgm:prSet/>
      <dgm:spPr/>
      <dgm:t>
        <a:bodyPr/>
        <a:lstStyle/>
        <a:p>
          <a:endParaRPr lang="en-US"/>
        </a:p>
      </dgm:t>
    </dgm:pt>
    <dgm:pt modelId="{5388DB88-A53C-4EE0-B25E-7738CF64ED55}" type="sibTrans" cxnId="{62F95A07-1460-46C1-831E-09816DF45E11}">
      <dgm:prSet/>
      <dgm:spPr/>
      <dgm:t>
        <a:bodyPr/>
        <a:lstStyle/>
        <a:p>
          <a:endParaRPr lang="en-US"/>
        </a:p>
      </dgm:t>
    </dgm:pt>
    <dgm:pt modelId="{9346EE70-CF00-4B3E-A8E3-A96BCA23CC37}">
      <dgm:prSet/>
      <dgm:spPr/>
      <dgm:t>
        <a:bodyPr/>
        <a:lstStyle/>
        <a:p>
          <a:r>
            <a:rPr lang="en-US" b="1"/>
            <a:t>Transport layer</a:t>
          </a:r>
          <a:r>
            <a:rPr lang="en-US"/>
            <a:t> – manages traffic and ensures proper delivery of data</a:t>
          </a:r>
        </a:p>
      </dgm:t>
    </dgm:pt>
    <dgm:pt modelId="{0113F220-C8EA-4D70-8F50-1E064BA0DF95}" type="parTrans" cxnId="{D747B54C-87AA-48FE-86F8-B80B444B9D94}">
      <dgm:prSet/>
      <dgm:spPr/>
      <dgm:t>
        <a:bodyPr/>
        <a:lstStyle/>
        <a:p>
          <a:endParaRPr lang="en-US"/>
        </a:p>
      </dgm:t>
    </dgm:pt>
    <dgm:pt modelId="{1360E938-F962-482A-9ADC-FE1A0D781C4B}" type="sibTrans" cxnId="{D747B54C-87AA-48FE-86F8-B80B444B9D94}">
      <dgm:prSet/>
      <dgm:spPr/>
      <dgm:t>
        <a:bodyPr/>
        <a:lstStyle/>
        <a:p>
          <a:endParaRPr lang="en-US"/>
        </a:p>
      </dgm:t>
    </dgm:pt>
    <dgm:pt modelId="{A57A92B6-AC75-4B2C-AB42-3C8484E3D547}">
      <dgm:prSet/>
      <dgm:spPr/>
      <dgm:t>
        <a:bodyPr/>
        <a:lstStyle/>
        <a:p>
          <a:r>
            <a:rPr lang="en-US" b="1"/>
            <a:t>IP layer</a:t>
          </a:r>
          <a:r>
            <a:rPr lang="en-US"/>
            <a:t> – breaks data into packets or datagrams and ensures routing of them to the destination.</a:t>
          </a:r>
        </a:p>
      </dgm:t>
    </dgm:pt>
    <dgm:pt modelId="{7726936B-C155-4A14-878E-3A01BD3728D3}" type="parTrans" cxnId="{6605B019-253A-4E4E-8C90-10D67EFD7586}">
      <dgm:prSet/>
      <dgm:spPr/>
      <dgm:t>
        <a:bodyPr/>
        <a:lstStyle/>
        <a:p>
          <a:endParaRPr lang="en-US"/>
        </a:p>
      </dgm:t>
    </dgm:pt>
    <dgm:pt modelId="{AAA1EBFC-ED88-4908-98A1-9454148D7BAA}" type="sibTrans" cxnId="{6605B019-253A-4E4E-8C90-10D67EFD7586}">
      <dgm:prSet/>
      <dgm:spPr/>
      <dgm:t>
        <a:bodyPr/>
        <a:lstStyle/>
        <a:p>
          <a:endParaRPr lang="en-US"/>
        </a:p>
      </dgm:t>
    </dgm:pt>
    <dgm:pt modelId="{7230E367-B1B0-4E0B-BDCF-495024AB2EA2}">
      <dgm:prSet/>
      <dgm:spPr/>
      <dgm:t>
        <a:bodyPr/>
        <a:lstStyle/>
        <a:p>
          <a:r>
            <a:rPr lang="en-US" b="1"/>
            <a:t>LAN layers or link layers</a:t>
          </a:r>
          <a:r>
            <a:rPr lang="en-US"/>
            <a:t> – focuses on point to point data exchange over communication lines</a:t>
          </a:r>
        </a:p>
      </dgm:t>
    </dgm:pt>
    <dgm:pt modelId="{D6560156-F592-49B6-BA18-20F6FEF61BD2}" type="parTrans" cxnId="{5013B59B-3DF2-4543-B84D-29A11D7959E3}">
      <dgm:prSet/>
      <dgm:spPr/>
      <dgm:t>
        <a:bodyPr/>
        <a:lstStyle/>
        <a:p>
          <a:endParaRPr lang="en-US"/>
        </a:p>
      </dgm:t>
    </dgm:pt>
    <dgm:pt modelId="{431362F0-7019-4DC4-AAE6-4A33A3BBD21D}" type="sibTrans" cxnId="{5013B59B-3DF2-4543-B84D-29A11D7959E3}">
      <dgm:prSet/>
      <dgm:spPr/>
      <dgm:t>
        <a:bodyPr/>
        <a:lstStyle/>
        <a:p>
          <a:endParaRPr lang="en-US"/>
        </a:p>
      </dgm:t>
    </dgm:pt>
    <dgm:pt modelId="{99531EE8-DC0A-1443-8A00-E11BC44C27F5}" type="pres">
      <dgm:prSet presAssocID="{FA6908E9-C0C3-472D-AFDA-1231AF5B3415}" presName="vert0" presStyleCnt="0">
        <dgm:presLayoutVars>
          <dgm:dir/>
          <dgm:animOne val="branch"/>
          <dgm:animLvl val="lvl"/>
        </dgm:presLayoutVars>
      </dgm:prSet>
      <dgm:spPr/>
    </dgm:pt>
    <dgm:pt modelId="{CD7CBDD1-DC68-144C-8B22-0D98EEC7A710}" type="pres">
      <dgm:prSet presAssocID="{1B906958-769B-44BA-B27B-76B01E876582}" presName="thickLine" presStyleLbl="alignNode1" presStyleIdx="0" presStyleCnt="4"/>
      <dgm:spPr/>
    </dgm:pt>
    <dgm:pt modelId="{08D282FD-B082-9341-8D0C-E1D8E832AB74}" type="pres">
      <dgm:prSet presAssocID="{1B906958-769B-44BA-B27B-76B01E876582}" presName="horz1" presStyleCnt="0"/>
      <dgm:spPr/>
    </dgm:pt>
    <dgm:pt modelId="{C1AA1108-037A-7349-891E-58337382CE39}" type="pres">
      <dgm:prSet presAssocID="{1B906958-769B-44BA-B27B-76B01E876582}" presName="tx1" presStyleLbl="revTx" presStyleIdx="0" presStyleCnt="4"/>
      <dgm:spPr/>
    </dgm:pt>
    <dgm:pt modelId="{CFDADD44-EA15-7444-8E80-4107B9E06363}" type="pres">
      <dgm:prSet presAssocID="{1B906958-769B-44BA-B27B-76B01E876582}" presName="vert1" presStyleCnt="0"/>
      <dgm:spPr/>
    </dgm:pt>
    <dgm:pt modelId="{9B51A629-BFC6-6D4E-8FBA-E1B364DDCABD}" type="pres">
      <dgm:prSet presAssocID="{9346EE70-CF00-4B3E-A8E3-A96BCA23CC37}" presName="thickLine" presStyleLbl="alignNode1" presStyleIdx="1" presStyleCnt="4"/>
      <dgm:spPr/>
    </dgm:pt>
    <dgm:pt modelId="{54C27CAF-8C50-8047-8BDF-10F7BB263A4C}" type="pres">
      <dgm:prSet presAssocID="{9346EE70-CF00-4B3E-A8E3-A96BCA23CC37}" presName="horz1" presStyleCnt="0"/>
      <dgm:spPr/>
    </dgm:pt>
    <dgm:pt modelId="{79504332-133C-864A-9E20-C52F303ED5A7}" type="pres">
      <dgm:prSet presAssocID="{9346EE70-CF00-4B3E-A8E3-A96BCA23CC37}" presName="tx1" presStyleLbl="revTx" presStyleIdx="1" presStyleCnt="4"/>
      <dgm:spPr/>
    </dgm:pt>
    <dgm:pt modelId="{72732D07-FF95-F04A-BC58-9E998A4DDD07}" type="pres">
      <dgm:prSet presAssocID="{9346EE70-CF00-4B3E-A8E3-A96BCA23CC37}" presName="vert1" presStyleCnt="0"/>
      <dgm:spPr/>
    </dgm:pt>
    <dgm:pt modelId="{D4A08052-DD13-DD43-96E6-759E98FA55E2}" type="pres">
      <dgm:prSet presAssocID="{A57A92B6-AC75-4B2C-AB42-3C8484E3D547}" presName="thickLine" presStyleLbl="alignNode1" presStyleIdx="2" presStyleCnt="4"/>
      <dgm:spPr/>
    </dgm:pt>
    <dgm:pt modelId="{18107998-168D-C14D-A998-381157EE1DC3}" type="pres">
      <dgm:prSet presAssocID="{A57A92B6-AC75-4B2C-AB42-3C8484E3D547}" presName="horz1" presStyleCnt="0"/>
      <dgm:spPr/>
    </dgm:pt>
    <dgm:pt modelId="{EE4A6389-BEA7-A044-B344-AB1C5C83C520}" type="pres">
      <dgm:prSet presAssocID="{A57A92B6-AC75-4B2C-AB42-3C8484E3D547}" presName="tx1" presStyleLbl="revTx" presStyleIdx="2" presStyleCnt="4"/>
      <dgm:spPr/>
    </dgm:pt>
    <dgm:pt modelId="{EEE30929-AA42-6E44-80FB-89666043D10C}" type="pres">
      <dgm:prSet presAssocID="{A57A92B6-AC75-4B2C-AB42-3C8484E3D547}" presName="vert1" presStyleCnt="0"/>
      <dgm:spPr/>
    </dgm:pt>
    <dgm:pt modelId="{6F033A37-3869-8A42-888B-F2B44DB96E3A}" type="pres">
      <dgm:prSet presAssocID="{7230E367-B1B0-4E0B-BDCF-495024AB2EA2}" presName="thickLine" presStyleLbl="alignNode1" presStyleIdx="3" presStyleCnt="4"/>
      <dgm:spPr/>
    </dgm:pt>
    <dgm:pt modelId="{8DBF81AC-6D33-1D4F-BDA2-4835FCAED1EB}" type="pres">
      <dgm:prSet presAssocID="{7230E367-B1B0-4E0B-BDCF-495024AB2EA2}" presName="horz1" presStyleCnt="0"/>
      <dgm:spPr/>
    </dgm:pt>
    <dgm:pt modelId="{C1E89474-AF14-A741-81D3-04F9DD0C1962}" type="pres">
      <dgm:prSet presAssocID="{7230E367-B1B0-4E0B-BDCF-495024AB2EA2}" presName="tx1" presStyleLbl="revTx" presStyleIdx="3" presStyleCnt="4"/>
      <dgm:spPr/>
    </dgm:pt>
    <dgm:pt modelId="{DD70B770-F38E-554C-B7D9-0E7109D59622}" type="pres">
      <dgm:prSet presAssocID="{7230E367-B1B0-4E0B-BDCF-495024AB2EA2}" presName="vert1" presStyleCnt="0"/>
      <dgm:spPr/>
    </dgm:pt>
  </dgm:ptLst>
  <dgm:cxnLst>
    <dgm:cxn modelId="{62F95A07-1460-46C1-831E-09816DF45E11}" srcId="{FA6908E9-C0C3-472D-AFDA-1231AF5B3415}" destId="{1B906958-769B-44BA-B27B-76B01E876582}" srcOrd="0" destOrd="0" parTransId="{22C89D38-7005-4A55-B747-787DCAC30BAF}" sibTransId="{5388DB88-A53C-4EE0-B25E-7738CF64ED55}"/>
    <dgm:cxn modelId="{C97E6308-9341-2245-9F14-9B3023C45C64}" type="presOf" srcId="{9346EE70-CF00-4B3E-A8E3-A96BCA23CC37}" destId="{79504332-133C-864A-9E20-C52F303ED5A7}" srcOrd="0" destOrd="0" presId="urn:microsoft.com/office/officeart/2008/layout/LinedList"/>
    <dgm:cxn modelId="{745BA217-8A36-FB42-865F-6981745FC06D}" type="presOf" srcId="{1B906958-769B-44BA-B27B-76B01E876582}" destId="{C1AA1108-037A-7349-891E-58337382CE39}" srcOrd="0" destOrd="0" presId="urn:microsoft.com/office/officeart/2008/layout/LinedList"/>
    <dgm:cxn modelId="{6605B019-253A-4E4E-8C90-10D67EFD7586}" srcId="{FA6908E9-C0C3-472D-AFDA-1231AF5B3415}" destId="{A57A92B6-AC75-4B2C-AB42-3C8484E3D547}" srcOrd="2" destOrd="0" parTransId="{7726936B-C155-4A14-878E-3A01BD3728D3}" sibTransId="{AAA1EBFC-ED88-4908-98A1-9454148D7BAA}"/>
    <dgm:cxn modelId="{2ED2B229-606D-B748-B5F8-B237BCF355AB}" type="presOf" srcId="{A57A92B6-AC75-4B2C-AB42-3C8484E3D547}" destId="{EE4A6389-BEA7-A044-B344-AB1C5C83C520}" srcOrd="0" destOrd="0" presId="urn:microsoft.com/office/officeart/2008/layout/LinedList"/>
    <dgm:cxn modelId="{D747B54C-87AA-48FE-86F8-B80B444B9D94}" srcId="{FA6908E9-C0C3-472D-AFDA-1231AF5B3415}" destId="{9346EE70-CF00-4B3E-A8E3-A96BCA23CC37}" srcOrd="1" destOrd="0" parTransId="{0113F220-C8EA-4D70-8F50-1E064BA0DF95}" sibTransId="{1360E938-F962-482A-9ADC-FE1A0D781C4B}"/>
    <dgm:cxn modelId="{5013B59B-3DF2-4543-B84D-29A11D7959E3}" srcId="{FA6908E9-C0C3-472D-AFDA-1231AF5B3415}" destId="{7230E367-B1B0-4E0B-BDCF-495024AB2EA2}" srcOrd="3" destOrd="0" parTransId="{D6560156-F592-49B6-BA18-20F6FEF61BD2}" sibTransId="{431362F0-7019-4DC4-AAE6-4A33A3BBD21D}"/>
    <dgm:cxn modelId="{AB9371B6-D6E5-3B4D-B7DC-4C893B3C3AD3}" type="presOf" srcId="{FA6908E9-C0C3-472D-AFDA-1231AF5B3415}" destId="{99531EE8-DC0A-1443-8A00-E11BC44C27F5}" srcOrd="0" destOrd="0" presId="urn:microsoft.com/office/officeart/2008/layout/LinedList"/>
    <dgm:cxn modelId="{FE2724C8-B8B2-6441-B73D-587BE14E73A0}" type="presOf" srcId="{7230E367-B1B0-4E0B-BDCF-495024AB2EA2}" destId="{C1E89474-AF14-A741-81D3-04F9DD0C1962}" srcOrd="0" destOrd="0" presId="urn:microsoft.com/office/officeart/2008/layout/LinedList"/>
    <dgm:cxn modelId="{6A355339-F274-BD47-8791-34C15C5D2249}" type="presParOf" srcId="{99531EE8-DC0A-1443-8A00-E11BC44C27F5}" destId="{CD7CBDD1-DC68-144C-8B22-0D98EEC7A710}" srcOrd="0" destOrd="0" presId="urn:microsoft.com/office/officeart/2008/layout/LinedList"/>
    <dgm:cxn modelId="{0208F698-DCF6-E141-91D9-20A055EB23D4}" type="presParOf" srcId="{99531EE8-DC0A-1443-8A00-E11BC44C27F5}" destId="{08D282FD-B082-9341-8D0C-E1D8E832AB74}" srcOrd="1" destOrd="0" presId="urn:microsoft.com/office/officeart/2008/layout/LinedList"/>
    <dgm:cxn modelId="{53F01999-4024-E545-9398-07BF6452FFA4}" type="presParOf" srcId="{08D282FD-B082-9341-8D0C-E1D8E832AB74}" destId="{C1AA1108-037A-7349-891E-58337382CE39}" srcOrd="0" destOrd="0" presId="urn:microsoft.com/office/officeart/2008/layout/LinedList"/>
    <dgm:cxn modelId="{6121D49F-F643-E34F-98C0-085F4362FDA7}" type="presParOf" srcId="{08D282FD-B082-9341-8D0C-E1D8E832AB74}" destId="{CFDADD44-EA15-7444-8E80-4107B9E06363}" srcOrd="1" destOrd="0" presId="urn:microsoft.com/office/officeart/2008/layout/LinedList"/>
    <dgm:cxn modelId="{06223780-D89C-8548-94F8-04832A3D6F56}" type="presParOf" srcId="{99531EE8-DC0A-1443-8A00-E11BC44C27F5}" destId="{9B51A629-BFC6-6D4E-8FBA-E1B364DDCABD}" srcOrd="2" destOrd="0" presId="urn:microsoft.com/office/officeart/2008/layout/LinedList"/>
    <dgm:cxn modelId="{359AB797-1704-9E4D-A4CA-EC65AC2095E3}" type="presParOf" srcId="{99531EE8-DC0A-1443-8A00-E11BC44C27F5}" destId="{54C27CAF-8C50-8047-8BDF-10F7BB263A4C}" srcOrd="3" destOrd="0" presId="urn:microsoft.com/office/officeart/2008/layout/LinedList"/>
    <dgm:cxn modelId="{2D28C2FD-5FD9-F847-9D15-79E3C17B0FF7}" type="presParOf" srcId="{54C27CAF-8C50-8047-8BDF-10F7BB263A4C}" destId="{79504332-133C-864A-9E20-C52F303ED5A7}" srcOrd="0" destOrd="0" presId="urn:microsoft.com/office/officeart/2008/layout/LinedList"/>
    <dgm:cxn modelId="{2C6C08FE-7464-1B48-8148-71F81D450D8F}" type="presParOf" srcId="{54C27CAF-8C50-8047-8BDF-10F7BB263A4C}" destId="{72732D07-FF95-F04A-BC58-9E998A4DDD07}" srcOrd="1" destOrd="0" presId="urn:microsoft.com/office/officeart/2008/layout/LinedList"/>
    <dgm:cxn modelId="{4A206BAD-180E-A64C-8072-15A099D65A1E}" type="presParOf" srcId="{99531EE8-DC0A-1443-8A00-E11BC44C27F5}" destId="{D4A08052-DD13-DD43-96E6-759E98FA55E2}" srcOrd="4" destOrd="0" presId="urn:microsoft.com/office/officeart/2008/layout/LinedList"/>
    <dgm:cxn modelId="{E25E3E05-10E8-1A4A-81F1-829489B9413C}" type="presParOf" srcId="{99531EE8-DC0A-1443-8A00-E11BC44C27F5}" destId="{18107998-168D-C14D-A998-381157EE1DC3}" srcOrd="5" destOrd="0" presId="urn:microsoft.com/office/officeart/2008/layout/LinedList"/>
    <dgm:cxn modelId="{6FFDAA50-164E-9149-853B-35C4BE909A7C}" type="presParOf" srcId="{18107998-168D-C14D-A998-381157EE1DC3}" destId="{EE4A6389-BEA7-A044-B344-AB1C5C83C520}" srcOrd="0" destOrd="0" presId="urn:microsoft.com/office/officeart/2008/layout/LinedList"/>
    <dgm:cxn modelId="{69D156DF-74AB-8947-8E59-A45E8F546CC0}" type="presParOf" srcId="{18107998-168D-C14D-A998-381157EE1DC3}" destId="{EEE30929-AA42-6E44-80FB-89666043D10C}" srcOrd="1" destOrd="0" presId="urn:microsoft.com/office/officeart/2008/layout/LinedList"/>
    <dgm:cxn modelId="{ECAA9081-01EF-704E-AF05-9A4AD7769517}" type="presParOf" srcId="{99531EE8-DC0A-1443-8A00-E11BC44C27F5}" destId="{6F033A37-3869-8A42-888B-F2B44DB96E3A}" srcOrd="6" destOrd="0" presId="urn:microsoft.com/office/officeart/2008/layout/LinedList"/>
    <dgm:cxn modelId="{9838F32D-D64C-F94C-91D7-275824247ECD}" type="presParOf" srcId="{99531EE8-DC0A-1443-8A00-E11BC44C27F5}" destId="{8DBF81AC-6D33-1D4F-BDA2-4835FCAED1EB}" srcOrd="7" destOrd="0" presId="urn:microsoft.com/office/officeart/2008/layout/LinedList"/>
    <dgm:cxn modelId="{2866B844-EE37-BC43-A628-6CF8674CD7AE}" type="presParOf" srcId="{8DBF81AC-6D33-1D4F-BDA2-4835FCAED1EB}" destId="{C1E89474-AF14-A741-81D3-04F9DD0C1962}" srcOrd="0" destOrd="0" presId="urn:microsoft.com/office/officeart/2008/layout/LinedList"/>
    <dgm:cxn modelId="{E20DFE23-B064-274D-904E-2E5A65B4FBDD}" type="presParOf" srcId="{8DBF81AC-6D33-1D4F-BDA2-4835FCAED1EB}" destId="{DD70B770-F38E-554C-B7D9-0E7109D5962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025345-BFBA-4166-AD44-A885919C9B7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DAB7937-908D-4F91-8D16-86AFFB957F61}">
      <dgm:prSet/>
      <dgm:spPr/>
      <dgm:t>
        <a:bodyPr/>
        <a:lstStyle/>
        <a:p>
          <a:r>
            <a:rPr lang="en-US"/>
            <a:t>Data rates are generally measured in kilobits per second (kbps) or megabits per second (Mbps); </a:t>
          </a:r>
        </a:p>
      </dgm:t>
    </dgm:pt>
    <dgm:pt modelId="{E885BB36-45E5-4ACC-A7EC-8DD3AEF9F83F}" type="parTrans" cxnId="{E6D86555-5768-4D1D-B2FD-6D81942477C6}">
      <dgm:prSet/>
      <dgm:spPr/>
      <dgm:t>
        <a:bodyPr/>
        <a:lstStyle/>
        <a:p>
          <a:endParaRPr lang="en-US"/>
        </a:p>
      </dgm:t>
    </dgm:pt>
    <dgm:pt modelId="{F3BA689F-873B-47A6-A0D7-D38DE265764A}" type="sibTrans" cxnId="{E6D86555-5768-4D1D-B2FD-6D81942477C6}">
      <dgm:prSet/>
      <dgm:spPr/>
      <dgm:t>
        <a:bodyPr/>
        <a:lstStyle/>
        <a:p>
          <a:endParaRPr lang="en-US"/>
        </a:p>
      </dgm:t>
    </dgm:pt>
    <dgm:pt modelId="{8A450424-9AED-4395-BC28-DD9734413F90}">
      <dgm:prSet/>
      <dgm:spPr/>
      <dgm:t>
        <a:bodyPr/>
        <a:lstStyle/>
        <a:p>
          <a:r>
            <a:rPr lang="en-US"/>
            <a:t>the use of the lower-case “b” here denotes bits. </a:t>
          </a:r>
        </a:p>
      </dgm:t>
    </dgm:pt>
    <dgm:pt modelId="{D398E47D-2D89-400A-B081-ACCF24F76AC3}" type="parTrans" cxnId="{8FAC5477-68B4-45F0-9F41-F69A2DD6E8E3}">
      <dgm:prSet/>
      <dgm:spPr/>
      <dgm:t>
        <a:bodyPr/>
        <a:lstStyle/>
        <a:p>
          <a:endParaRPr lang="en-US"/>
        </a:p>
      </dgm:t>
    </dgm:pt>
    <dgm:pt modelId="{5F71AD11-84E8-47DB-B091-1DE89203D0C5}" type="sibTrans" cxnId="{8FAC5477-68B4-45F0-9F41-F69A2DD6E8E3}">
      <dgm:prSet/>
      <dgm:spPr/>
      <dgm:t>
        <a:bodyPr/>
        <a:lstStyle/>
        <a:p>
          <a:endParaRPr lang="en-US"/>
        </a:p>
      </dgm:t>
    </dgm:pt>
    <dgm:pt modelId="{69E61E99-F383-4048-8C6C-3B038D8E47F7}">
      <dgm:prSet/>
      <dgm:spPr/>
      <dgm:t>
        <a:bodyPr/>
        <a:lstStyle/>
        <a:p>
          <a:r>
            <a:rPr lang="en-US"/>
            <a:t>In the context of data rates, a kilobit is 10</a:t>
          </a:r>
          <a:r>
            <a:rPr lang="en-US" baseline="30000"/>
            <a:t>3</a:t>
          </a:r>
          <a:r>
            <a:rPr lang="en-US"/>
            <a:t> bits (not 2</a:t>
          </a:r>
          <a:r>
            <a:rPr lang="en-US" baseline="30000"/>
            <a:t>10</a:t>
          </a:r>
          <a:r>
            <a:rPr lang="en-US"/>
            <a:t>) and a megabit is 10</a:t>
          </a:r>
          <a:r>
            <a:rPr lang="en-US" baseline="30000"/>
            <a:t>6</a:t>
          </a:r>
          <a:r>
            <a:rPr lang="en-US"/>
            <a:t> bits. Somewhat inconsistently, we follow the tradition of using kB and MB to denote data volumes of 2</a:t>
          </a:r>
          <a:r>
            <a:rPr lang="en-US" baseline="30000"/>
            <a:t>10</a:t>
          </a:r>
          <a:r>
            <a:rPr lang="en-US"/>
            <a:t> and 2</a:t>
          </a:r>
          <a:r>
            <a:rPr lang="en-US" baseline="30000"/>
            <a:t>20</a:t>
          </a:r>
          <a:r>
            <a:rPr lang="en-US"/>
            <a:t> bytes respectively, with the upper-case B denoting bytes. </a:t>
          </a:r>
        </a:p>
      </dgm:t>
    </dgm:pt>
    <dgm:pt modelId="{15CE0E1B-C51E-4A30-805E-64CE0776D33C}" type="parTrans" cxnId="{ED93A7DA-6E57-44CF-BC9E-50E530664834}">
      <dgm:prSet/>
      <dgm:spPr/>
      <dgm:t>
        <a:bodyPr/>
        <a:lstStyle/>
        <a:p>
          <a:endParaRPr lang="en-US"/>
        </a:p>
      </dgm:t>
    </dgm:pt>
    <dgm:pt modelId="{82912B51-79DD-4174-B989-57DA9F8F48B7}" type="sibTrans" cxnId="{ED93A7DA-6E57-44CF-BC9E-50E530664834}">
      <dgm:prSet/>
      <dgm:spPr/>
      <dgm:t>
        <a:bodyPr/>
        <a:lstStyle/>
        <a:p>
          <a:endParaRPr lang="en-US"/>
        </a:p>
      </dgm:t>
    </dgm:pt>
    <dgm:pt modelId="{8734B977-C673-4FE7-B8C7-91EB2CC99051}">
      <dgm:prSet/>
      <dgm:spPr/>
      <dgm:t>
        <a:bodyPr/>
        <a:lstStyle/>
        <a:p>
          <a:r>
            <a:rPr lang="en-US"/>
            <a:t>Question: If your phone gets 500 Mbps network speeds in speed test, how many bytes would that be?</a:t>
          </a:r>
        </a:p>
      </dgm:t>
    </dgm:pt>
    <dgm:pt modelId="{B357235A-FC11-462C-98F0-FD16889B2524}" type="parTrans" cxnId="{F5D13C7D-FADA-43BC-ADD7-4508E2CFF9FD}">
      <dgm:prSet/>
      <dgm:spPr/>
      <dgm:t>
        <a:bodyPr/>
        <a:lstStyle/>
        <a:p>
          <a:endParaRPr lang="en-US"/>
        </a:p>
      </dgm:t>
    </dgm:pt>
    <dgm:pt modelId="{A1511277-65EC-48C6-BE70-145658EE8572}" type="sibTrans" cxnId="{F5D13C7D-FADA-43BC-ADD7-4508E2CFF9FD}">
      <dgm:prSet/>
      <dgm:spPr/>
      <dgm:t>
        <a:bodyPr/>
        <a:lstStyle/>
        <a:p>
          <a:endParaRPr lang="en-US"/>
        </a:p>
      </dgm:t>
    </dgm:pt>
    <dgm:pt modelId="{DE0D280B-AAC5-41B5-9279-9DC4F7566000}">
      <dgm:prSet/>
      <dgm:spPr/>
      <dgm:t>
        <a:bodyPr/>
        <a:lstStyle/>
        <a:p>
          <a:r>
            <a:rPr lang="en-US"/>
            <a:t>Question: At that speed, how long will it take to transmit a 1 MB file?</a:t>
          </a:r>
        </a:p>
      </dgm:t>
    </dgm:pt>
    <dgm:pt modelId="{D9E70959-E0EB-4D82-8F90-EC2AB987AC1B}" type="parTrans" cxnId="{CD1638A3-6338-43F0-9918-9A284162EBAE}">
      <dgm:prSet/>
      <dgm:spPr/>
      <dgm:t>
        <a:bodyPr/>
        <a:lstStyle/>
        <a:p>
          <a:endParaRPr lang="en-US"/>
        </a:p>
      </dgm:t>
    </dgm:pt>
    <dgm:pt modelId="{3DDF5457-26D4-4B09-974B-0F491C11A4FA}" type="sibTrans" cxnId="{CD1638A3-6338-43F0-9918-9A284162EBAE}">
      <dgm:prSet/>
      <dgm:spPr/>
      <dgm:t>
        <a:bodyPr/>
        <a:lstStyle/>
        <a:p>
          <a:endParaRPr lang="en-US"/>
        </a:p>
      </dgm:t>
    </dgm:pt>
    <dgm:pt modelId="{DE9A4991-2AC1-4914-9DC1-63AEDF0B8B84}">
      <dgm:prSet/>
      <dgm:spPr/>
      <dgm:t>
        <a:bodyPr/>
        <a:lstStyle/>
        <a:p>
          <a:r>
            <a:rPr lang="en-US"/>
            <a:t>1 Mbps = 10</a:t>
          </a:r>
          <a:r>
            <a:rPr lang="en-US" baseline="30000"/>
            <a:t>9 </a:t>
          </a:r>
          <a:r>
            <a:rPr lang="en-US"/>
            <a:t>bits per second. So, 500 Mbps  = 500*10</a:t>
          </a:r>
          <a:r>
            <a:rPr lang="en-US" baseline="30000"/>
            <a:t>9</a:t>
          </a:r>
          <a:r>
            <a:rPr lang="en-US"/>
            <a:t> / 8 bytes per second =  62,500,000 bytes per second.</a:t>
          </a:r>
        </a:p>
      </dgm:t>
    </dgm:pt>
    <dgm:pt modelId="{989F8BAE-F0D1-4676-880B-80E1D597C4D4}" type="parTrans" cxnId="{36BCB094-8F0F-4BE6-A65E-DC9815BDC225}">
      <dgm:prSet/>
      <dgm:spPr/>
      <dgm:t>
        <a:bodyPr/>
        <a:lstStyle/>
        <a:p>
          <a:endParaRPr lang="en-US"/>
        </a:p>
      </dgm:t>
    </dgm:pt>
    <dgm:pt modelId="{409D6F1C-335D-496B-A89E-C3D992426A42}" type="sibTrans" cxnId="{36BCB094-8F0F-4BE6-A65E-DC9815BDC225}">
      <dgm:prSet/>
      <dgm:spPr/>
      <dgm:t>
        <a:bodyPr/>
        <a:lstStyle/>
        <a:p>
          <a:endParaRPr lang="en-US"/>
        </a:p>
      </dgm:t>
    </dgm:pt>
    <dgm:pt modelId="{D2DA8FBE-A74A-D44E-9C85-3D3E779F1379}" type="pres">
      <dgm:prSet presAssocID="{CD025345-BFBA-4166-AD44-A885919C9B7B}" presName="linear" presStyleCnt="0">
        <dgm:presLayoutVars>
          <dgm:animLvl val="lvl"/>
          <dgm:resizeHandles val="exact"/>
        </dgm:presLayoutVars>
      </dgm:prSet>
      <dgm:spPr/>
    </dgm:pt>
    <dgm:pt modelId="{29DF64BF-6043-C344-B5C2-B4D108DCD4AB}" type="pres">
      <dgm:prSet presAssocID="{8DAB7937-908D-4F91-8D16-86AFFB957F6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8CE7C2E-BDDF-B749-B464-F994BE781126}" type="pres">
      <dgm:prSet presAssocID="{8DAB7937-908D-4F91-8D16-86AFFB957F61}" presName="childText" presStyleLbl="revTx" presStyleIdx="0" presStyleCnt="2">
        <dgm:presLayoutVars>
          <dgm:bulletEnabled val="1"/>
        </dgm:presLayoutVars>
      </dgm:prSet>
      <dgm:spPr/>
    </dgm:pt>
    <dgm:pt modelId="{22EC0C29-9B2D-D849-884B-7D8A6A68F34F}" type="pres">
      <dgm:prSet presAssocID="{8734B977-C673-4FE7-B8C7-91EB2CC9905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04F144C-8CBF-6641-AF62-C81CB5E34670}" type="pres">
      <dgm:prSet presAssocID="{A1511277-65EC-48C6-BE70-145658EE8572}" presName="spacer" presStyleCnt="0"/>
      <dgm:spPr/>
    </dgm:pt>
    <dgm:pt modelId="{EA4D0117-B12C-B246-B630-96174205017A}" type="pres">
      <dgm:prSet presAssocID="{DE0D280B-AAC5-41B5-9279-9DC4F756600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43EBD28-330B-B54A-8FF8-A4D48E0409EC}" type="pres">
      <dgm:prSet presAssocID="{DE0D280B-AAC5-41B5-9279-9DC4F756600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54CD33D-5981-0C48-A0B6-A0B31CED6D45}" type="presOf" srcId="{8DAB7937-908D-4F91-8D16-86AFFB957F61}" destId="{29DF64BF-6043-C344-B5C2-B4D108DCD4AB}" srcOrd="0" destOrd="0" presId="urn:microsoft.com/office/officeart/2005/8/layout/vList2"/>
    <dgm:cxn modelId="{1147CB4B-D8D7-524F-B997-CE56DCDF5D42}" type="presOf" srcId="{DE0D280B-AAC5-41B5-9279-9DC4F7566000}" destId="{EA4D0117-B12C-B246-B630-96174205017A}" srcOrd="0" destOrd="0" presId="urn:microsoft.com/office/officeart/2005/8/layout/vList2"/>
    <dgm:cxn modelId="{E6D86555-5768-4D1D-B2FD-6D81942477C6}" srcId="{CD025345-BFBA-4166-AD44-A885919C9B7B}" destId="{8DAB7937-908D-4F91-8D16-86AFFB957F61}" srcOrd="0" destOrd="0" parTransId="{E885BB36-45E5-4ACC-A7EC-8DD3AEF9F83F}" sibTransId="{F3BA689F-873B-47A6-A0D7-D38DE265764A}"/>
    <dgm:cxn modelId="{8FAC5477-68B4-45F0-9F41-F69A2DD6E8E3}" srcId="{8DAB7937-908D-4F91-8D16-86AFFB957F61}" destId="{8A450424-9AED-4395-BC28-DD9734413F90}" srcOrd="0" destOrd="0" parTransId="{D398E47D-2D89-400A-B081-ACCF24F76AC3}" sibTransId="{5F71AD11-84E8-47DB-B091-1DE89203D0C5}"/>
    <dgm:cxn modelId="{F5D13C7D-FADA-43BC-ADD7-4508E2CFF9FD}" srcId="{CD025345-BFBA-4166-AD44-A885919C9B7B}" destId="{8734B977-C673-4FE7-B8C7-91EB2CC99051}" srcOrd="1" destOrd="0" parTransId="{B357235A-FC11-462C-98F0-FD16889B2524}" sibTransId="{A1511277-65EC-48C6-BE70-145658EE8572}"/>
    <dgm:cxn modelId="{F9E7E088-313F-3E43-A03A-07C3C7CF5EB1}" type="presOf" srcId="{8734B977-C673-4FE7-B8C7-91EB2CC99051}" destId="{22EC0C29-9B2D-D849-884B-7D8A6A68F34F}" srcOrd="0" destOrd="0" presId="urn:microsoft.com/office/officeart/2005/8/layout/vList2"/>
    <dgm:cxn modelId="{36BCB094-8F0F-4BE6-A65E-DC9815BDC225}" srcId="{DE0D280B-AAC5-41B5-9279-9DC4F7566000}" destId="{DE9A4991-2AC1-4914-9DC1-63AEDF0B8B84}" srcOrd="0" destOrd="0" parTransId="{989F8BAE-F0D1-4676-880B-80E1D597C4D4}" sibTransId="{409D6F1C-335D-496B-A89E-C3D992426A42}"/>
    <dgm:cxn modelId="{CD1638A3-6338-43F0-9918-9A284162EBAE}" srcId="{CD025345-BFBA-4166-AD44-A885919C9B7B}" destId="{DE0D280B-AAC5-41B5-9279-9DC4F7566000}" srcOrd="2" destOrd="0" parTransId="{D9E70959-E0EB-4D82-8F90-EC2AB987AC1B}" sibTransId="{3DDF5457-26D4-4B09-974B-0F491C11A4FA}"/>
    <dgm:cxn modelId="{539108B6-DD3B-C54C-8209-3EBED66BCD42}" type="presOf" srcId="{CD025345-BFBA-4166-AD44-A885919C9B7B}" destId="{D2DA8FBE-A74A-D44E-9C85-3D3E779F1379}" srcOrd="0" destOrd="0" presId="urn:microsoft.com/office/officeart/2005/8/layout/vList2"/>
    <dgm:cxn modelId="{467C90DA-55BF-FA44-AC19-CEFA773F0F3C}" type="presOf" srcId="{69E61E99-F383-4048-8C6C-3B038D8E47F7}" destId="{48CE7C2E-BDDF-B749-B464-F994BE781126}" srcOrd="0" destOrd="1" presId="urn:microsoft.com/office/officeart/2005/8/layout/vList2"/>
    <dgm:cxn modelId="{ED93A7DA-6E57-44CF-BC9E-50E530664834}" srcId="{8DAB7937-908D-4F91-8D16-86AFFB957F61}" destId="{69E61E99-F383-4048-8C6C-3B038D8E47F7}" srcOrd="1" destOrd="0" parTransId="{15CE0E1B-C51E-4A30-805E-64CE0776D33C}" sibTransId="{82912B51-79DD-4174-B989-57DA9F8F48B7}"/>
    <dgm:cxn modelId="{D7EB97F1-34F0-2444-AB4E-B3D7D6EB3AD7}" type="presOf" srcId="{DE9A4991-2AC1-4914-9DC1-63AEDF0B8B84}" destId="{C43EBD28-330B-B54A-8FF8-A4D48E0409EC}" srcOrd="0" destOrd="0" presId="urn:microsoft.com/office/officeart/2005/8/layout/vList2"/>
    <dgm:cxn modelId="{0BC443FB-67C3-5B48-819C-82C636146068}" type="presOf" srcId="{8A450424-9AED-4395-BC28-DD9734413F90}" destId="{48CE7C2E-BDDF-B749-B464-F994BE781126}" srcOrd="0" destOrd="0" presId="urn:microsoft.com/office/officeart/2005/8/layout/vList2"/>
    <dgm:cxn modelId="{5887517B-E521-DB45-9FE1-5B3197E80B38}" type="presParOf" srcId="{D2DA8FBE-A74A-D44E-9C85-3D3E779F1379}" destId="{29DF64BF-6043-C344-B5C2-B4D108DCD4AB}" srcOrd="0" destOrd="0" presId="urn:microsoft.com/office/officeart/2005/8/layout/vList2"/>
    <dgm:cxn modelId="{372C3388-0F6A-6C4E-854D-41885E38E7BD}" type="presParOf" srcId="{D2DA8FBE-A74A-D44E-9C85-3D3E779F1379}" destId="{48CE7C2E-BDDF-B749-B464-F994BE781126}" srcOrd="1" destOrd="0" presId="urn:microsoft.com/office/officeart/2005/8/layout/vList2"/>
    <dgm:cxn modelId="{0B51F517-8655-D44C-B557-04BC67259E30}" type="presParOf" srcId="{D2DA8FBE-A74A-D44E-9C85-3D3E779F1379}" destId="{22EC0C29-9B2D-D849-884B-7D8A6A68F34F}" srcOrd="2" destOrd="0" presId="urn:microsoft.com/office/officeart/2005/8/layout/vList2"/>
    <dgm:cxn modelId="{FA38D1DF-293C-1D46-853E-82C32409B8F7}" type="presParOf" srcId="{D2DA8FBE-A74A-D44E-9C85-3D3E779F1379}" destId="{304F144C-8CBF-6641-AF62-C81CB5E34670}" srcOrd="3" destOrd="0" presId="urn:microsoft.com/office/officeart/2005/8/layout/vList2"/>
    <dgm:cxn modelId="{371F1E21-46EB-6D41-87D6-994A4D6C163D}" type="presParOf" srcId="{D2DA8FBE-A74A-D44E-9C85-3D3E779F1379}" destId="{EA4D0117-B12C-B246-B630-96174205017A}" srcOrd="4" destOrd="0" presId="urn:microsoft.com/office/officeart/2005/8/layout/vList2"/>
    <dgm:cxn modelId="{B7235310-BD0A-0E4C-A3EA-8849EEBFA240}" type="presParOf" srcId="{D2DA8FBE-A74A-D44E-9C85-3D3E779F1379}" destId="{C43EBD28-330B-B54A-8FF8-A4D48E0409EC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F87C28-FE6C-4601-9713-E0BF75109B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BD7868A-A68E-4749-8B5C-DC551F496858}">
      <dgm:prSet/>
      <dgm:spPr/>
      <dgm:t>
        <a:bodyPr/>
        <a:lstStyle/>
        <a:p>
          <a:r>
            <a:rPr lang="en-US"/>
            <a:t>Switching devices acting at the LAN layer and forwarding packets based on the LAN address are called </a:t>
          </a:r>
          <a:r>
            <a:rPr lang="en-US" b="1"/>
            <a:t>switches </a:t>
          </a:r>
          <a:endParaRPr lang="en-US"/>
        </a:p>
      </dgm:t>
    </dgm:pt>
    <dgm:pt modelId="{6D8F8191-2E5E-4EF1-BAD8-E44242C51725}" type="parTrans" cxnId="{E182292E-D0FA-4914-9A3C-314F5C76B3A8}">
      <dgm:prSet/>
      <dgm:spPr/>
      <dgm:t>
        <a:bodyPr/>
        <a:lstStyle/>
        <a:p>
          <a:endParaRPr lang="en-US"/>
        </a:p>
      </dgm:t>
    </dgm:pt>
    <dgm:pt modelId="{F4A3E7FF-E763-4B06-9D13-926CC8771584}" type="sibTrans" cxnId="{E182292E-D0FA-4914-9A3C-314F5C76B3A8}">
      <dgm:prSet/>
      <dgm:spPr/>
      <dgm:t>
        <a:bodyPr/>
        <a:lstStyle/>
        <a:p>
          <a:endParaRPr lang="en-US"/>
        </a:p>
      </dgm:t>
    </dgm:pt>
    <dgm:pt modelId="{FEC4FB2E-AAFB-4879-AF2A-4DF332D2FFE1}">
      <dgm:prSet/>
      <dgm:spPr/>
      <dgm:t>
        <a:bodyPr/>
        <a:lstStyle/>
        <a:p>
          <a:r>
            <a:rPr lang="en-US"/>
            <a:t>Switching devices acting at the IP layer and forwarding on the IP address are called </a:t>
          </a:r>
          <a:r>
            <a:rPr lang="en-US" b="1"/>
            <a:t>routers.</a:t>
          </a:r>
          <a:r>
            <a:rPr lang="en-US"/>
            <a:t> </a:t>
          </a:r>
        </a:p>
      </dgm:t>
    </dgm:pt>
    <dgm:pt modelId="{5D0124FB-B4D5-4330-B57B-2449FA2C2514}" type="parTrans" cxnId="{45AC48EB-6AED-4415-A4E6-8570635C8392}">
      <dgm:prSet/>
      <dgm:spPr/>
      <dgm:t>
        <a:bodyPr/>
        <a:lstStyle/>
        <a:p>
          <a:endParaRPr lang="en-US"/>
        </a:p>
      </dgm:t>
    </dgm:pt>
    <dgm:pt modelId="{4F82DED2-7A8E-4124-A526-16C9DE14ACB8}" type="sibTrans" cxnId="{45AC48EB-6AED-4415-A4E6-8570635C8392}">
      <dgm:prSet/>
      <dgm:spPr/>
      <dgm:t>
        <a:bodyPr/>
        <a:lstStyle/>
        <a:p>
          <a:endParaRPr lang="en-US"/>
        </a:p>
      </dgm:t>
    </dgm:pt>
    <dgm:pt modelId="{2AF65A05-B71B-4646-B7A6-F33844EA639A}" type="pres">
      <dgm:prSet presAssocID="{17F87C28-FE6C-4601-9713-E0BF75109B7B}" presName="root" presStyleCnt="0">
        <dgm:presLayoutVars>
          <dgm:dir/>
          <dgm:resizeHandles val="exact"/>
        </dgm:presLayoutVars>
      </dgm:prSet>
      <dgm:spPr/>
    </dgm:pt>
    <dgm:pt modelId="{CBDB8714-FE63-49A7-B1DA-77BB107ACB94}" type="pres">
      <dgm:prSet presAssocID="{9BD7868A-A68E-4749-8B5C-DC551F496858}" presName="compNode" presStyleCnt="0"/>
      <dgm:spPr/>
    </dgm:pt>
    <dgm:pt modelId="{EA820B25-319B-4644-AEB8-A0609B69F035}" type="pres">
      <dgm:prSet presAssocID="{9BD7868A-A68E-4749-8B5C-DC551F496858}" presName="bgRect" presStyleLbl="bgShp" presStyleIdx="0" presStyleCnt="2"/>
      <dgm:spPr/>
    </dgm:pt>
    <dgm:pt modelId="{3F6E28E9-F9F8-4C8C-9E43-49298C3C701B}" type="pres">
      <dgm:prSet presAssocID="{9BD7868A-A68E-4749-8B5C-DC551F49685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2331AE6-F34D-4B72-B4F8-255388BF8217}" type="pres">
      <dgm:prSet presAssocID="{9BD7868A-A68E-4749-8B5C-DC551F496858}" presName="spaceRect" presStyleCnt="0"/>
      <dgm:spPr/>
    </dgm:pt>
    <dgm:pt modelId="{6455F1E9-3C27-4CA7-8E42-0932D9D708C8}" type="pres">
      <dgm:prSet presAssocID="{9BD7868A-A68E-4749-8B5C-DC551F496858}" presName="parTx" presStyleLbl="revTx" presStyleIdx="0" presStyleCnt="2">
        <dgm:presLayoutVars>
          <dgm:chMax val="0"/>
          <dgm:chPref val="0"/>
        </dgm:presLayoutVars>
      </dgm:prSet>
      <dgm:spPr/>
    </dgm:pt>
    <dgm:pt modelId="{28674845-E290-4177-8D31-FFCD9C1AEEE4}" type="pres">
      <dgm:prSet presAssocID="{F4A3E7FF-E763-4B06-9D13-926CC8771584}" presName="sibTrans" presStyleCnt="0"/>
      <dgm:spPr/>
    </dgm:pt>
    <dgm:pt modelId="{1799F407-1B92-4E78-9971-FD4E583E858D}" type="pres">
      <dgm:prSet presAssocID="{FEC4FB2E-AAFB-4879-AF2A-4DF332D2FFE1}" presName="compNode" presStyleCnt="0"/>
      <dgm:spPr/>
    </dgm:pt>
    <dgm:pt modelId="{3005C20F-6557-4F67-BF50-9899840A1E06}" type="pres">
      <dgm:prSet presAssocID="{FEC4FB2E-AAFB-4879-AF2A-4DF332D2FFE1}" presName="bgRect" presStyleLbl="bgShp" presStyleIdx="1" presStyleCnt="2"/>
      <dgm:spPr/>
    </dgm:pt>
    <dgm:pt modelId="{329DF50E-4ADC-467C-BE02-DBD81C81BDBE}" type="pres">
      <dgm:prSet presAssocID="{FEC4FB2E-AAFB-4879-AF2A-4DF332D2FFE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FFC4565-BC56-4385-9851-4CA5E1AD412F}" type="pres">
      <dgm:prSet presAssocID="{FEC4FB2E-AAFB-4879-AF2A-4DF332D2FFE1}" presName="spaceRect" presStyleCnt="0"/>
      <dgm:spPr/>
    </dgm:pt>
    <dgm:pt modelId="{ADC63286-BACA-47D1-8ADF-D230A15EB8DA}" type="pres">
      <dgm:prSet presAssocID="{FEC4FB2E-AAFB-4879-AF2A-4DF332D2FFE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182292E-D0FA-4914-9A3C-314F5C76B3A8}" srcId="{17F87C28-FE6C-4601-9713-E0BF75109B7B}" destId="{9BD7868A-A68E-4749-8B5C-DC551F496858}" srcOrd="0" destOrd="0" parTransId="{6D8F8191-2E5E-4EF1-BAD8-E44242C51725}" sibTransId="{F4A3E7FF-E763-4B06-9D13-926CC8771584}"/>
    <dgm:cxn modelId="{3C57BFB1-148A-4BEB-A5DF-19E182E4BE25}" type="presOf" srcId="{17F87C28-FE6C-4601-9713-E0BF75109B7B}" destId="{2AF65A05-B71B-4646-B7A6-F33844EA639A}" srcOrd="0" destOrd="0" presId="urn:microsoft.com/office/officeart/2018/2/layout/IconVerticalSolidList"/>
    <dgm:cxn modelId="{45AC48EB-6AED-4415-A4E6-8570635C8392}" srcId="{17F87C28-FE6C-4601-9713-E0BF75109B7B}" destId="{FEC4FB2E-AAFB-4879-AF2A-4DF332D2FFE1}" srcOrd="1" destOrd="0" parTransId="{5D0124FB-B4D5-4330-B57B-2449FA2C2514}" sibTransId="{4F82DED2-7A8E-4124-A526-16C9DE14ACB8}"/>
    <dgm:cxn modelId="{1CBB9DFA-7BDF-4FDC-B05E-E08031B96796}" type="presOf" srcId="{9BD7868A-A68E-4749-8B5C-DC551F496858}" destId="{6455F1E9-3C27-4CA7-8E42-0932D9D708C8}" srcOrd="0" destOrd="0" presId="urn:microsoft.com/office/officeart/2018/2/layout/IconVerticalSolidList"/>
    <dgm:cxn modelId="{ABF136FC-789A-4274-B529-156464676338}" type="presOf" srcId="{FEC4FB2E-AAFB-4879-AF2A-4DF332D2FFE1}" destId="{ADC63286-BACA-47D1-8ADF-D230A15EB8DA}" srcOrd="0" destOrd="0" presId="urn:microsoft.com/office/officeart/2018/2/layout/IconVerticalSolidList"/>
    <dgm:cxn modelId="{C94FB6D1-E054-4D8D-B43C-A745F738BF96}" type="presParOf" srcId="{2AF65A05-B71B-4646-B7A6-F33844EA639A}" destId="{CBDB8714-FE63-49A7-B1DA-77BB107ACB94}" srcOrd="0" destOrd="0" presId="urn:microsoft.com/office/officeart/2018/2/layout/IconVerticalSolidList"/>
    <dgm:cxn modelId="{9A624484-3B2E-4800-8F52-136BC535D96E}" type="presParOf" srcId="{CBDB8714-FE63-49A7-B1DA-77BB107ACB94}" destId="{EA820B25-319B-4644-AEB8-A0609B69F035}" srcOrd="0" destOrd="0" presId="urn:microsoft.com/office/officeart/2018/2/layout/IconVerticalSolidList"/>
    <dgm:cxn modelId="{A66B3CBE-5E3A-4A31-B551-3BED7C617B8C}" type="presParOf" srcId="{CBDB8714-FE63-49A7-B1DA-77BB107ACB94}" destId="{3F6E28E9-F9F8-4C8C-9E43-49298C3C701B}" srcOrd="1" destOrd="0" presId="urn:microsoft.com/office/officeart/2018/2/layout/IconVerticalSolidList"/>
    <dgm:cxn modelId="{2F171D1A-C089-4F75-879D-237D29F13856}" type="presParOf" srcId="{CBDB8714-FE63-49A7-B1DA-77BB107ACB94}" destId="{02331AE6-F34D-4B72-B4F8-255388BF8217}" srcOrd="2" destOrd="0" presId="urn:microsoft.com/office/officeart/2018/2/layout/IconVerticalSolidList"/>
    <dgm:cxn modelId="{1E9741A5-A99D-441E-B8C3-7EF2A1D011D5}" type="presParOf" srcId="{CBDB8714-FE63-49A7-B1DA-77BB107ACB94}" destId="{6455F1E9-3C27-4CA7-8E42-0932D9D708C8}" srcOrd="3" destOrd="0" presId="urn:microsoft.com/office/officeart/2018/2/layout/IconVerticalSolidList"/>
    <dgm:cxn modelId="{72B82A45-DE1F-46D4-9173-5FFF61B4414F}" type="presParOf" srcId="{2AF65A05-B71B-4646-B7A6-F33844EA639A}" destId="{28674845-E290-4177-8D31-FFCD9C1AEEE4}" srcOrd="1" destOrd="0" presId="urn:microsoft.com/office/officeart/2018/2/layout/IconVerticalSolidList"/>
    <dgm:cxn modelId="{E01BFE4B-BC15-4D00-9AC2-8EDECB69BAF2}" type="presParOf" srcId="{2AF65A05-B71B-4646-B7A6-F33844EA639A}" destId="{1799F407-1B92-4E78-9971-FD4E583E858D}" srcOrd="2" destOrd="0" presId="urn:microsoft.com/office/officeart/2018/2/layout/IconVerticalSolidList"/>
    <dgm:cxn modelId="{84B5769B-AFCF-4422-BF6A-50F50DF4118B}" type="presParOf" srcId="{1799F407-1B92-4E78-9971-FD4E583E858D}" destId="{3005C20F-6557-4F67-BF50-9899840A1E06}" srcOrd="0" destOrd="0" presId="urn:microsoft.com/office/officeart/2018/2/layout/IconVerticalSolidList"/>
    <dgm:cxn modelId="{EA00E1F8-6CFE-42D4-B475-1A2C0A3009E1}" type="presParOf" srcId="{1799F407-1B92-4E78-9971-FD4E583E858D}" destId="{329DF50E-4ADC-467C-BE02-DBD81C81BDBE}" srcOrd="1" destOrd="0" presId="urn:microsoft.com/office/officeart/2018/2/layout/IconVerticalSolidList"/>
    <dgm:cxn modelId="{87C9B68E-ECDC-4EF2-8B02-340F0C7C527B}" type="presParOf" srcId="{1799F407-1B92-4E78-9971-FD4E583E858D}" destId="{1FFC4565-BC56-4385-9851-4CA5E1AD412F}" srcOrd="2" destOrd="0" presId="urn:microsoft.com/office/officeart/2018/2/layout/IconVerticalSolidList"/>
    <dgm:cxn modelId="{AF0F9A1C-B6EF-4602-85E2-8377AEF142EB}" type="presParOf" srcId="{1799F407-1B92-4E78-9971-FD4E583E858D}" destId="{ADC63286-BACA-47D1-8ADF-D230A15EB8D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7CBDD1-DC68-144C-8B22-0D98EEC7A710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A1108-037A-7349-891E-58337382CE39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Application layer</a:t>
          </a:r>
          <a:r>
            <a:rPr lang="en-US" sz="2700" kern="1200"/>
            <a:t> – This is where applications such as browsers, email clients, etc. work. </a:t>
          </a:r>
        </a:p>
      </dsp:txBody>
      <dsp:txXfrm>
        <a:off x="0" y="0"/>
        <a:ext cx="6900512" cy="1384035"/>
      </dsp:txXfrm>
    </dsp:sp>
    <dsp:sp modelId="{9B51A629-BFC6-6D4E-8FBA-E1B364DDCABD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504332-133C-864A-9E20-C52F303ED5A7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Transport layer</a:t>
          </a:r>
          <a:r>
            <a:rPr lang="en-US" sz="2700" kern="1200"/>
            <a:t> – manages traffic and ensures proper delivery of data</a:t>
          </a:r>
        </a:p>
      </dsp:txBody>
      <dsp:txXfrm>
        <a:off x="0" y="1384035"/>
        <a:ext cx="6900512" cy="1384035"/>
      </dsp:txXfrm>
    </dsp:sp>
    <dsp:sp modelId="{D4A08052-DD13-DD43-96E6-759E98FA55E2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A6389-BEA7-A044-B344-AB1C5C83C520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IP layer</a:t>
          </a:r>
          <a:r>
            <a:rPr lang="en-US" sz="2700" kern="1200"/>
            <a:t> – breaks data into packets or datagrams and ensures routing of them to the destination.</a:t>
          </a:r>
        </a:p>
      </dsp:txBody>
      <dsp:txXfrm>
        <a:off x="0" y="2768070"/>
        <a:ext cx="6900512" cy="1384035"/>
      </dsp:txXfrm>
    </dsp:sp>
    <dsp:sp modelId="{6F033A37-3869-8A42-888B-F2B44DB96E3A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E89474-AF14-A741-81D3-04F9DD0C1962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LAN layers or link layers</a:t>
          </a:r>
          <a:r>
            <a:rPr lang="en-US" sz="2700" kern="1200"/>
            <a:t> – focuses on point to point data exchange over communication lines</a:t>
          </a:r>
        </a:p>
      </dsp:txBody>
      <dsp:txXfrm>
        <a:off x="0" y="4152105"/>
        <a:ext cx="6900512" cy="13840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F64BF-6043-C344-B5C2-B4D108DCD4AB}">
      <dsp:nvSpPr>
        <dsp:cNvPr id="0" name=""/>
        <dsp:cNvSpPr/>
      </dsp:nvSpPr>
      <dsp:spPr>
        <a:xfrm>
          <a:off x="0" y="507157"/>
          <a:ext cx="6900512" cy="875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rates are generally measured in kilobits per second (kbps) or megabits per second (Mbps); </a:t>
          </a:r>
        </a:p>
      </dsp:txBody>
      <dsp:txXfrm>
        <a:off x="42722" y="549879"/>
        <a:ext cx="6815068" cy="789716"/>
      </dsp:txXfrm>
    </dsp:sp>
    <dsp:sp modelId="{48CE7C2E-BDDF-B749-B464-F994BE781126}">
      <dsp:nvSpPr>
        <dsp:cNvPr id="0" name=""/>
        <dsp:cNvSpPr/>
      </dsp:nvSpPr>
      <dsp:spPr>
        <a:xfrm>
          <a:off x="0" y="1382317"/>
          <a:ext cx="6900512" cy="129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the use of the lower-case “b” here denotes bits.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In the context of data rates, a kilobit is 10</a:t>
          </a:r>
          <a:r>
            <a:rPr lang="en-US" sz="1700" kern="1200" baseline="30000"/>
            <a:t>3</a:t>
          </a:r>
          <a:r>
            <a:rPr lang="en-US" sz="1700" kern="1200"/>
            <a:t> bits (not 2</a:t>
          </a:r>
          <a:r>
            <a:rPr lang="en-US" sz="1700" kern="1200" baseline="30000"/>
            <a:t>10</a:t>
          </a:r>
          <a:r>
            <a:rPr lang="en-US" sz="1700" kern="1200"/>
            <a:t>) and a megabit is 10</a:t>
          </a:r>
          <a:r>
            <a:rPr lang="en-US" sz="1700" kern="1200" baseline="30000"/>
            <a:t>6</a:t>
          </a:r>
          <a:r>
            <a:rPr lang="en-US" sz="1700" kern="1200"/>
            <a:t> bits. Somewhat inconsistently, we follow the tradition of using kB and MB to denote data volumes of 2</a:t>
          </a:r>
          <a:r>
            <a:rPr lang="en-US" sz="1700" kern="1200" baseline="30000"/>
            <a:t>10</a:t>
          </a:r>
          <a:r>
            <a:rPr lang="en-US" sz="1700" kern="1200"/>
            <a:t> and 2</a:t>
          </a:r>
          <a:r>
            <a:rPr lang="en-US" sz="1700" kern="1200" baseline="30000"/>
            <a:t>20</a:t>
          </a:r>
          <a:r>
            <a:rPr lang="en-US" sz="1700" kern="1200"/>
            <a:t> bytes respectively, with the upper-case B denoting bytes. </a:t>
          </a:r>
        </a:p>
      </dsp:txBody>
      <dsp:txXfrm>
        <a:off x="0" y="1382317"/>
        <a:ext cx="6900512" cy="1297890"/>
      </dsp:txXfrm>
    </dsp:sp>
    <dsp:sp modelId="{22EC0C29-9B2D-D849-884B-7D8A6A68F34F}">
      <dsp:nvSpPr>
        <dsp:cNvPr id="0" name=""/>
        <dsp:cNvSpPr/>
      </dsp:nvSpPr>
      <dsp:spPr>
        <a:xfrm>
          <a:off x="0" y="2680207"/>
          <a:ext cx="6900512" cy="875160"/>
        </a:xfrm>
        <a:prstGeom prst="round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Question: If your phone gets 500 Mbps network speeds in speed test, how many bytes would that be?</a:t>
          </a:r>
        </a:p>
      </dsp:txBody>
      <dsp:txXfrm>
        <a:off x="42722" y="2722929"/>
        <a:ext cx="6815068" cy="789716"/>
      </dsp:txXfrm>
    </dsp:sp>
    <dsp:sp modelId="{EA4D0117-B12C-B246-B630-96174205017A}">
      <dsp:nvSpPr>
        <dsp:cNvPr id="0" name=""/>
        <dsp:cNvSpPr/>
      </dsp:nvSpPr>
      <dsp:spPr>
        <a:xfrm>
          <a:off x="0" y="3618728"/>
          <a:ext cx="6900512" cy="87516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Question: At that speed, how long will it take to transmit a 1 MB file?</a:t>
          </a:r>
        </a:p>
      </dsp:txBody>
      <dsp:txXfrm>
        <a:off x="42722" y="3661450"/>
        <a:ext cx="6815068" cy="789716"/>
      </dsp:txXfrm>
    </dsp:sp>
    <dsp:sp modelId="{C43EBD28-330B-B54A-8FF8-A4D48E0409EC}">
      <dsp:nvSpPr>
        <dsp:cNvPr id="0" name=""/>
        <dsp:cNvSpPr/>
      </dsp:nvSpPr>
      <dsp:spPr>
        <a:xfrm>
          <a:off x="0" y="4493888"/>
          <a:ext cx="6900512" cy="5350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1 Mbps = 10</a:t>
          </a:r>
          <a:r>
            <a:rPr lang="en-US" sz="1700" kern="1200" baseline="30000"/>
            <a:t>9 </a:t>
          </a:r>
          <a:r>
            <a:rPr lang="en-US" sz="1700" kern="1200"/>
            <a:t>bits per second. So, 500 Mbps  = 500*10</a:t>
          </a:r>
          <a:r>
            <a:rPr lang="en-US" sz="1700" kern="1200" baseline="30000"/>
            <a:t>9</a:t>
          </a:r>
          <a:r>
            <a:rPr lang="en-US" sz="1700" kern="1200"/>
            <a:t> / 8 bytes per second =  62,500,000 bytes per second.</a:t>
          </a:r>
        </a:p>
      </dsp:txBody>
      <dsp:txXfrm>
        <a:off x="0" y="4493888"/>
        <a:ext cx="6900512" cy="5350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820B25-319B-4644-AEB8-A0609B69F035}">
      <dsp:nvSpPr>
        <dsp:cNvPr id="0" name=""/>
        <dsp:cNvSpPr/>
      </dsp:nvSpPr>
      <dsp:spPr>
        <a:xfrm>
          <a:off x="0" y="894261"/>
          <a:ext cx="5861090" cy="16509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6E28E9-F9F8-4C8C-9E43-49298C3C701B}">
      <dsp:nvSpPr>
        <dsp:cNvPr id="0" name=""/>
        <dsp:cNvSpPr/>
      </dsp:nvSpPr>
      <dsp:spPr>
        <a:xfrm>
          <a:off x="499410" y="1265724"/>
          <a:ext cx="908019" cy="9080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5F1E9-3C27-4CA7-8E42-0932D9D708C8}">
      <dsp:nvSpPr>
        <dsp:cNvPr id="0" name=""/>
        <dsp:cNvSpPr/>
      </dsp:nvSpPr>
      <dsp:spPr>
        <a:xfrm>
          <a:off x="1906841" y="894261"/>
          <a:ext cx="3954248" cy="1650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725" tIns="174725" rIns="174725" bIns="17472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Switching devices acting at the LAN layer and forwarding packets based on the LAN address are called </a:t>
          </a:r>
          <a:r>
            <a:rPr lang="en-US" sz="2200" b="1" kern="1200"/>
            <a:t>switches </a:t>
          </a:r>
          <a:endParaRPr lang="en-US" sz="2200" kern="1200"/>
        </a:p>
      </dsp:txBody>
      <dsp:txXfrm>
        <a:off x="1906841" y="894261"/>
        <a:ext cx="3954248" cy="1650945"/>
      </dsp:txXfrm>
    </dsp:sp>
    <dsp:sp modelId="{3005C20F-6557-4F67-BF50-9899840A1E06}">
      <dsp:nvSpPr>
        <dsp:cNvPr id="0" name=""/>
        <dsp:cNvSpPr/>
      </dsp:nvSpPr>
      <dsp:spPr>
        <a:xfrm>
          <a:off x="0" y="2957943"/>
          <a:ext cx="5861090" cy="16509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9DF50E-4ADC-467C-BE02-DBD81C81BDBE}">
      <dsp:nvSpPr>
        <dsp:cNvPr id="0" name=""/>
        <dsp:cNvSpPr/>
      </dsp:nvSpPr>
      <dsp:spPr>
        <a:xfrm>
          <a:off x="499410" y="3329405"/>
          <a:ext cx="908019" cy="9080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C63286-BACA-47D1-8ADF-D230A15EB8DA}">
      <dsp:nvSpPr>
        <dsp:cNvPr id="0" name=""/>
        <dsp:cNvSpPr/>
      </dsp:nvSpPr>
      <dsp:spPr>
        <a:xfrm>
          <a:off x="1906841" y="2957943"/>
          <a:ext cx="3954248" cy="1650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725" tIns="174725" rIns="174725" bIns="17472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Switching devices acting at the IP layer and forwarding on the IP address are called </a:t>
          </a:r>
          <a:r>
            <a:rPr lang="en-US" sz="2200" b="1" kern="1200"/>
            <a:t>routers.</a:t>
          </a:r>
          <a:r>
            <a:rPr lang="en-US" sz="2200" kern="1200"/>
            <a:t> </a:t>
          </a:r>
        </a:p>
      </dsp:txBody>
      <dsp:txXfrm>
        <a:off x="1906841" y="2957943"/>
        <a:ext cx="3954248" cy="16509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29D5F-F558-7C4D-83FC-CB8200698FC1}" type="datetimeFigureOut">
              <a:rPr lang="en-US" smtClean="0"/>
              <a:t>1/14/25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48A53A-DBEB-8E47-ABE5-DE4B64F67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372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8A53A-DBEB-8E47-ABE5-DE4B64F67F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1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ACB7-3AF7-41A9-E6B3-E0FB06FC3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29C338-7EFF-DCBF-07A9-BDFAD712B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F5244-4A6D-1E77-333C-C096EC2B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D328-3D9D-E345-A28F-B00D97D035CD}" type="datetime1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D6E33-7249-2C61-89E9-3AACF5DB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6A35A-F4F4-4022-F5F3-DBC46568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9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6483F-2FD1-D949-EC69-70ED61DD3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162D9-9571-B4D9-039D-9640CC55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7F461-78D8-815D-0F27-518B3C82C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D0F4-AD5D-A14A-8DC6-59EF9601B64F}" type="datetime1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591F7-33DA-E132-AE57-3DE78D68D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F0C76-DB4D-40A0-1B32-FFEFBF00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48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3174-5169-5DF7-C571-196D866B4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D9FBD-DA18-B20D-68D7-138F2CC98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75163-79A2-5F3D-BAF9-F3F1073FC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EBF4D-447F-E744-951D-BBFA6D3FEB0E}" type="datetime1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633F1-52E8-7BF2-8B44-CCD0E5264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C9580-EDCB-5E1F-2FFB-A136EA88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98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A35F1-3BAA-6435-CD3C-A2C583C6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21AF-2455-6D7B-7FC9-5D17830B0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A3243-EA83-6F46-6CD1-C26129D79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19762-EEB0-E90A-BC7A-79FB80BE9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0B4AE-07CF-2845-9ADB-0D29B54C58D0}" type="datetime1">
              <a:rPr lang="en-US" smtClean="0"/>
              <a:t>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CE0D0-07DC-01F2-DE99-9BAA95457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685D0-3BD3-53AA-8E16-1196842F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16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97F8B-B4C0-C793-E84B-DE0FAF3AC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D044A-B849-78DC-8AB4-CFE234931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F8F2E-B78B-13D3-6644-A700ED1BC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20ECB4-4BAE-34FE-7670-531A3C112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78AFE-E15E-7A05-4FDB-7E15DC8723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C50E80-EFEC-92E1-D66A-031E2C6E5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C55A-FFB2-604F-84ED-0D5E2F971377}" type="datetime1">
              <a:rPr lang="en-US" smtClean="0"/>
              <a:t>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EF5A9F-530C-FD3E-0C13-F2606F543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AAD3DB-BD7A-749D-597F-C49B52778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26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8F08F-8C87-C3B5-2083-F28DD1C9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10CC9-5558-AA64-18C4-3E592EB02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A39A0-7373-2748-9401-CED190938B70}" type="datetime1">
              <a:rPr lang="en-US" smtClean="0"/>
              <a:t>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6FE8CE-745B-76B9-6E0D-44E2147A2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BBFCD-4E69-D4ED-7CA4-99E9BDE55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CC210-BE40-8492-7EE3-B2CC1973A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43FA-A4BE-0A47-B6E2-530592E93C24}" type="datetime1">
              <a:rPr lang="en-US" smtClean="0"/>
              <a:t>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87184-FF42-4453-C895-F36668E3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D32A8-10B2-D0A6-E597-9E7A556DF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1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DF644-96E9-8E23-CFF4-005E6B75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A3062-EA6A-B923-F3ED-49DE0C3C8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7ABDA-F7E3-4B5E-E797-A047ED5A4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5656A-2F39-F2E3-4E0F-3DE3721CC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ECA5-28FA-814E-8D35-9C2AD19610EF}" type="datetime1">
              <a:rPr lang="en-US" smtClean="0"/>
              <a:t>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A0EC1-288C-8F76-24E1-5C5352C38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FCC50-4ADC-8870-9E0F-B61A0D66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87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717A-D462-D8C1-0F01-DE33060B8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3B459-A891-E675-2C02-FE7CE2DDB1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215A95-E7E4-03F7-5511-73A0E817F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BA7DB-3299-C77A-C192-1CCC1413D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EADDF-81FE-E841-89B3-8AB5A082B60B}" type="datetime1">
              <a:rPr lang="en-US" smtClean="0"/>
              <a:t>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B5F75-C100-BC88-49A7-E923F2C1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7ABF3-237E-A347-E661-2E3FD69C5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23B30-041E-1269-BD4C-D1B3E28CC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E79DB-10AB-DE59-E914-B120D29CF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C9E89-E0DA-BEE0-AFA8-4ADA794D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39E8F-7063-C34E-AA23-EE4390023108}" type="datetime1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8F99F-4BB3-D41F-96B3-AFA89EAE2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40C0D-9657-B79B-38B8-C0E2B86C7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35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6FF42A-AC35-522B-A611-41A1F297EF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AB471F-FA88-CCD4-F5AC-16B9F2038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88F92-FD22-0884-1CD0-2C34351D4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2F06-C72C-5A4D-B3B4-AE1DBE162276}" type="datetime1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D4CB7-0C50-2FE5-2087-0E698DDC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A1D23-FDFE-5229-32E8-462E8DECC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43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A02E1B-2735-96F1-581B-B40E5E90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7735E-BEBF-1063-E917-003F77AA1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A2A57-A29F-2AE1-4761-1BD66795ED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593F5E-53CE-3641-82CA-8652A3AF1519}" type="datetime1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44934-89D8-265D-6B80-2B7B22C85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 334/534 Networking | Ragib Hasan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A9C44-F0ED-EB7A-D1F5-A3123F83B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1D63C-0F31-4447-ACEC-8CDBA4909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2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C97239-A507-235A-2F0C-D0518DF3B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222"/>
            <a:ext cx="12192000" cy="68622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1C8AC0-1034-CAD5-9ABA-5026E6910151}"/>
              </a:ext>
            </a:extLst>
          </p:cNvPr>
          <p:cNvSpPr txBox="1"/>
          <p:nvPr/>
        </p:nvSpPr>
        <p:spPr>
          <a:xfrm>
            <a:off x="1323027" y="4369774"/>
            <a:ext cx="538619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Dr. Ragib Hasan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400" b="1" dirty="0"/>
              <a:t>Lecture 1.2: </a:t>
            </a:r>
          </a:p>
          <a:p>
            <a:r>
              <a:rPr lang="en-US" sz="2400" dirty="0"/>
              <a:t>Network Terminology and Foundational Concepts</a:t>
            </a:r>
          </a:p>
        </p:txBody>
      </p:sp>
    </p:spTree>
    <p:extLst>
      <p:ext uri="{BB962C8B-B14F-4D97-AF65-F5344CB8AC3E}">
        <p14:creationId xmlns:p14="http://schemas.microsoft.com/office/powerpoint/2010/main" val="1246267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57AA-CB26-AB80-657E-1073AF6C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1B5B1-D5B0-4437-7DFA-CD1303929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 various network concepts</a:t>
            </a:r>
          </a:p>
          <a:p>
            <a:r>
              <a:rPr lang="en-US" dirty="0"/>
              <a:t>Discuss network terminology</a:t>
            </a:r>
          </a:p>
          <a:p>
            <a:endParaRPr lang="en-US" dirty="0"/>
          </a:p>
          <a:p>
            <a:r>
              <a:rPr lang="en-US" dirty="0"/>
              <a:t>Book reference</a:t>
            </a:r>
            <a:r>
              <a:rPr lang="en-US"/>
              <a:t>: Chapter 1, section 1.1 to 1.4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79E4E-751C-AB43-26DC-DDEAF5708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962BE-9770-A867-1F4B-4153B973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34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91E6C5-B545-080B-276C-8B8BAE74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Fundamental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C5890-513C-E76C-003F-DBC7ECBE5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5097131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 dirty="0"/>
              <a:t>How do we send data from the source to the destination over a set of communication lines?</a:t>
            </a:r>
          </a:p>
        </p:txBody>
      </p:sp>
      <p:pic>
        <p:nvPicPr>
          <p:cNvPr id="5" name="Picture 4" descr="Pins pinned on a white surface and connecting a black thread">
            <a:extLst>
              <a:ext uri="{FF2B5EF4-FFF2-40B4-BE49-F238E27FC236}">
                <a16:creationId xmlns:a16="http://schemas.microsoft.com/office/drawing/2014/main" id="{B85E89B8-3016-FEEE-299E-83161F2235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41" r="35258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5596E-F3D3-B054-76C2-6E7D6F87C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6E02B-94BC-8640-32C1-C2DA5DA0D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0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09C5F-266F-4D94-35D6-FAEBD71AC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Let’s take a step back and think about the challenges!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511DCD3-8521-8208-AD8D-5719F22CB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600"/>
              <a:t>We have data files of various sizes and formats</a:t>
            </a:r>
          </a:p>
          <a:p>
            <a:r>
              <a:rPr lang="en-US" sz="2600"/>
              <a:t>Network connections will be shared by multiple users </a:t>
            </a:r>
          </a:p>
          <a:p>
            <a:r>
              <a:rPr lang="en-US" sz="2600"/>
              <a:t>We need to find a way to reach the destination</a:t>
            </a:r>
          </a:p>
          <a:p>
            <a:r>
              <a:rPr lang="en-US" sz="2600"/>
              <a:t>Our computers need to connect to the nearby network access point (also shared by multiple users)</a:t>
            </a:r>
          </a:p>
          <a:p>
            <a:r>
              <a:rPr lang="en-US" sz="2600"/>
              <a:t>Also, there is a lot of heterogeneity (not everyone will be using the same hardware or software). Even then, everything must work correctly.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E1DCA-E654-39E6-2405-8B11DE404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E06E8-5F50-5200-4204-F95B85D9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10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0653B8-2514-C5CE-CC54-574E2414B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So, how do we solve this (messy) problem?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1EF22-6CF3-787F-82C5-70548252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721473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Key hunches</a:t>
            </a:r>
          </a:p>
          <a:p>
            <a:r>
              <a:rPr lang="en-US" dirty="0"/>
              <a:t>Figure out the problems and group them into layers, with each layer focused on a single problem</a:t>
            </a:r>
          </a:p>
          <a:p>
            <a:r>
              <a:rPr lang="en-US" dirty="0"/>
              <a:t>Develop protocols (or rules of engagement) for each of the layers</a:t>
            </a:r>
          </a:p>
          <a:p>
            <a:r>
              <a:rPr lang="en-US" dirty="0"/>
              <a:t>Break down data into chunks and encapsulate them into standard “Envelopes” (just like we do when sending letters via post)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314BFB-F8FE-8901-02D7-38325B03F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 334/534 Networking | Ragib Hasan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B35F8-65F9-4565-5067-545449D7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951D63C-0F31-4447-ACEC-8CDBA4909159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32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137F7-E0E5-96C4-E6FD-721AFE12C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Let’s do an analogy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DB4FF-F614-C844-A5FD-A66ACF968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000" dirty="0"/>
              <a:t>Suppose you want to send a letter to your friend living in a different city</a:t>
            </a:r>
          </a:p>
          <a:p>
            <a:r>
              <a:rPr lang="en-US" sz="2000" dirty="0"/>
              <a:t>Would you send the letter all the way to your friends or manage every step? No!</a:t>
            </a:r>
          </a:p>
          <a:p>
            <a:r>
              <a:rPr lang="en-US" sz="2000" dirty="0"/>
              <a:t>What would you do?</a:t>
            </a:r>
          </a:p>
          <a:p>
            <a:pPr lvl="1"/>
            <a:r>
              <a:rPr lang="en-US" sz="2000" dirty="0"/>
              <a:t>You’d pack the letter in an envelop, write the destination address, and hand it to the post office. </a:t>
            </a:r>
          </a:p>
          <a:p>
            <a:pPr lvl="1"/>
            <a:r>
              <a:rPr lang="en-US" sz="2000" dirty="0"/>
              <a:t>The post office will check the address and depending on the address, would put the envelop in a mail bag corresponding to the destination. and put it in a mail truck. </a:t>
            </a:r>
          </a:p>
          <a:p>
            <a:pPr lvl="1"/>
            <a:r>
              <a:rPr lang="en-US" sz="2000" dirty="0"/>
              <a:t>The truck driver will drive it to the destination city. </a:t>
            </a:r>
          </a:p>
          <a:p>
            <a:pPr lvl="1"/>
            <a:r>
              <a:rPr lang="en-US" sz="2000" dirty="0"/>
              <a:t>There, the reverse would happen – the mail bag will be unloaded from the truck, </a:t>
            </a:r>
          </a:p>
          <a:p>
            <a:pPr lvl="1"/>
            <a:r>
              <a:rPr lang="en-US" sz="2000" dirty="0"/>
              <a:t>Then the letter will be retrieved, and then taken by the postman to your friend’s house.</a:t>
            </a:r>
          </a:p>
          <a:p>
            <a:r>
              <a:rPr lang="en-US" sz="2000" dirty="0"/>
              <a:t>Key insight – don’t try to manage everything yourself. Rather, separate the tasks into groups or “layers”, and let each layer focus on doing a single thing in the most efficient way!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B3FCC-B833-975B-5D4D-47BFF6C8B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 334/534 Networking | Ragib Hasan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6D9B7-D4A8-49F2-1758-F1DD651AD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951D63C-0F31-4447-ACEC-8CDBA4909159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86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A0D9D-D10D-EDFF-FB88-DA8A682AD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Network Layers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EFE745-FC64-FC66-27AE-E85B33D4B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736858"/>
            <a:ext cx="7214616" cy="535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8C709E-5AD9-96BA-50FE-49B70B848C41}"/>
              </a:ext>
            </a:extLst>
          </p:cNvPr>
          <p:cNvSpPr txBox="1"/>
          <p:nvPr/>
        </p:nvSpPr>
        <p:spPr>
          <a:xfrm>
            <a:off x="1803748" y="5924811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** This is an informal model, we will cover the TCP/IP and OSI models in another lecture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F4C38-9DEF-A77C-E2F2-0220EDB5F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D9AFA-3924-C1D3-FFF0-F2393987B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36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61B78-7510-7625-90C3-7CD4721D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rPr lang="en-US"/>
              <a:t>The idea of a “Layer”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8C166-51B6-01E1-C01A-BECEEB0A6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751" y="1825625"/>
            <a:ext cx="6702211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 layer corresponds strongly to the idea of a programming interface or library, with the understanding that a given layer communicates directly only with the two layers immediately above and below it. </a:t>
            </a:r>
          </a:p>
          <a:p>
            <a:r>
              <a:rPr lang="en-US" sz="2400" dirty="0"/>
              <a:t>An application hands off a chunk of data to the TCP library, which in turn makes calls to the IP library, which in turn calls the LAN layer for actual delivery. </a:t>
            </a:r>
          </a:p>
          <a:p>
            <a:r>
              <a:rPr lang="en-US" sz="2400" dirty="0"/>
              <a:t>An application does not interact directly with the IP and LAN layers at all.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87068-27ED-A8E6-44BE-2FAE444CF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962" y="2618608"/>
            <a:ext cx="4221597" cy="3532810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A8578-5A89-7811-E976-EBBA00BA6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E40F9-A00C-C77A-7FF2-5781AF91A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61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D6C82-0C28-B69C-A7D9-D7E2E1695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What does each layer do?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F4611-32ED-8103-A395-C3BDFC021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 334/534 Networking | Ragib Hasan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307D8-37C1-305B-E9FF-0DD5C2898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951D63C-0F31-4447-ACEC-8CDBA4909159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1F0111A-0442-A7F0-AC08-2B66EE1003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124256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4657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86197-7CF9-4DFE-A0B5-E728E867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fast and how much?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24286-0AE5-FC07-1229-71C7F2166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Data rate/bandwidth</a:t>
            </a:r>
            <a:r>
              <a:rPr lang="en-US" dirty="0"/>
              <a:t>: The rate at which bits are transmitted. (depends on line’s speed)</a:t>
            </a:r>
          </a:p>
          <a:p>
            <a:r>
              <a:rPr lang="en-US" b="1" dirty="0"/>
              <a:t>Throughput: </a:t>
            </a:r>
            <a:r>
              <a:rPr lang="en-US" dirty="0"/>
              <a:t>Refers to the overall effective transmission rate, taking into account things like transmission overhead, protocol inefficiencies and perhaps even competing traffic. It is generally measured at a higher network layer than the data rate.</a:t>
            </a:r>
          </a:p>
          <a:p>
            <a:pPr lvl="1"/>
            <a:r>
              <a:rPr lang="en-US" dirty="0"/>
              <a:t>Why is throughput generally less than data rate?</a:t>
            </a:r>
          </a:p>
          <a:p>
            <a:r>
              <a:rPr lang="en-US" b="1" dirty="0"/>
              <a:t>Goodput: </a:t>
            </a:r>
            <a:r>
              <a:rPr lang="en-US" dirty="0"/>
              <a:t>sometimes used to refer to what might also be called “application-layer throughput”: the amount of </a:t>
            </a:r>
            <a:r>
              <a:rPr lang="en-US" b="1" u="sng" dirty="0"/>
              <a:t>usable </a:t>
            </a:r>
            <a:r>
              <a:rPr lang="en-US" dirty="0"/>
              <a:t>data delivered to the receiving application. </a:t>
            </a:r>
          </a:p>
          <a:p>
            <a:pPr lvl="1"/>
            <a:r>
              <a:rPr lang="en-US" dirty="0"/>
              <a:t>Why is it different from throughput?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7B77A8-8531-3D0F-FC0C-AAAA9C92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1991F-3860-5F91-0648-E2D0C223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82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DD2F08-1FD2-DAB6-BD1B-75A0E4B6F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Bits, Bytes, bps, Bps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64196D-4A70-3A08-0D66-2A6322527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 334/534 Networking | Ragib Hasan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06E265-6A05-2210-6AF5-1EFE13B5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951D63C-0F31-4447-ACEC-8CDBA4909159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57AAD9D-305E-92D0-A225-92435EB754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293637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1727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7F8B8-6557-5243-AE5C-30243946C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Packet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14209-B96C-8775-1774-C639987A7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At the heart of networking is the concept of a Packet</a:t>
            </a:r>
          </a:p>
          <a:p>
            <a:r>
              <a:rPr lang="en-US" sz="2000"/>
              <a:t>A packet is defined as a modest-sized sequences of bytes, transmitted as a unit through some shared set of links</a:t>
            </a:r>
          </a:p>
          <a:p>
            <a:r>
              <a:rPr lang="en-US" sz="2000"/>
              <a:t>Packets have a header with delivery information (address) and other meta data.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08CED2-932B-A60C-FAA3-C546464B0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559" y="3265199"/>
            <a:ext cx="5150277" cy="221461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6882D-C762-D495-E067-A3832146C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B037B-3139-0A7C-0AD8-660404AA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32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F76FB-3793-12E7-000C-E80C289AF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want large or small packets?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82096-2845-E531-D085-591A3F652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Packets are often small in size</a:t>
            </a:r>
          </a:p>
          <a:p>
            <a:r>
              <a:rPr lang="en-US" dirty="0"/>
              <a:t>Ethernet = 1500 bytes</a:t>
            </a:r>
          </a:p>
          <a:p>
            <a:r>
              <a:rPr lang="en-US" dirty="0"/>
              <a:t>TCP = up to 64 kilobytes, BUT in practice, limited to 1500 bytes</a:t>
            </a:r>
          </a:p>
          <a:p>
            <a:endParaRPr lang="en-US" dirty="0"/>
          </a:p>
          <a:p>
            <a:r>
              <a:rPr lang="en-US" dirty="0"/>
              <a:t>What is the advantage of small packets over large?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962EA4-482B-D1FE-7D43-560507888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B8515-4569-FA0F-CC44-AF1370BFC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86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F8888-0C1C-2B0C-2F48-25A505D46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headers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797BB-5A2B-7239-FCD2-1F793FC83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layer adds its own header</a:t>
            </a:r>
          </a:p>
          <a:p>
            <a:pPr marL="0" indent="0">
              <a:buNone/>
            </a:pPr>
            <a:r>
              <a:rPr lang="en-US" dirty="0"/>
              <a:t>For example, </a:t>
            </a:r>
          </a:p>
          <a:p>
            <a:pPr marL="0" indent="0">
              <a:buNone/>
            </a:pPr>
            <a:r>
              <a:rPr lang="en-US" dirty="0"/>
              <a:t>Ethernet = 14 bytes</a:t>
            </a:r>
          </a:p>
          <a:p>
            <a:pPr marL="0" indent="0">
              <a:buNone/>
            </a:pPr>
            <a:r>
              <a:rPr lang="en-US" dirty="0"/>
              <a:t>IP = 20 bytes</a:t>
            </a:r>
          </a:p>
          <a:p>
            <a:pPr marL="0" indent="0">
              <a:buNone/>
            </a:pPr>
            <a:r>
              <a:rPr lang="en-US" dirty="0"/>
              <a:t>TCP = 20 bytes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TCP packet sent over IP over Ethernet will have (14+20+20=54 bytes of headers).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74B99-ED8E-A261-D1B0-617E92BE8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4EBE3-3A59-7B44-F45C-26E61153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59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8469A-F0CE-54E0-65F6-B4AD242F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600"/>
              <a:t>How packets move?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74762-A545-6D79-194B-6D69F4BDB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/>
              <a:t>Packet-switching is the foundation of today’s networks</a:t>
            </a:r>
          </a:p>
          <a:p>
            <a:endParaRPr lang="en-US" sz="2000"/>
          </a:p>
          <a:p>
            <a:r>
              <a:rPr lang="en-US" sz="2000"/>
              <a:t>In network switches, data arrives over an input  line/interface and is forwarded to another line/interface based on packet destination address</a:t>
            </a:r>
          </a:p>
          <a:p>
            <a:endParaRPr lang="en-US" sz="2000"/>
          </a:p>
        </p:txBody>
      </p:sp>
      <p:pic>
        <p:nvPicPr>
          <p:cNvPr id="4" name="Picture 3" descr="A diagram of a number of switches&#10;&#10;Description automatically generated">
            <a:extLst>
              <a:ext uri="{FF2B5EF4-FFF2-40B4-BE49-F238E27FC236}">
                <a16:creationId xmlns:a16="http://schemas.microsoft.com/office/drawing/2014/main" id="{9DD5510E-A504-371B-91F0-BB52DE3B1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620" y="1499056"/>
            <a:ext cx="6346101" cy="414223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63FD8-4F39-ACF1-A831-A6B71BF3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CAA95-9638-C10F-A4E6-1E28E808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17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6FF42C2-EA15-4154-B242-E98E88CED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79DE9F7-28C4-4856-BA57-D696E124C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850434-CEF5-92EC-77BE-DD764852B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78408"/>
            <a:ext cx="4056530" cy="1106424"/>
          </a:xfrm>
        </p:spPr>
        <p:txBody>
          <a:bodyPr>
            <a:normAutofit/>
          </a:bodyPr>
          <a:lstStyle/>
          <a:p>
            <a:r>
              <a:rPr lang="en-US" sz="2800"/>
              <a:t>How packets move?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F9ED9C-121B-44C6-A308-5824769C4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5F8185-F27B-4E99-A06C-007336FE3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95865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29FD0-DE5A-FA3C-CB87-84EFC0D61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59152"/>
            <a:ext cx="4056530" cy="3429000"/>
          </a:xfrm>
        </p:spPr>
        <p:txBody>
          <a:bodyPr>
            <a:normAutofit/>
          </a:bodyPr>
          <a:lstStyle/>
          <a:p>
            <a:r>
              <a:rPr lang="en-US" sz="1800" dirty="0"/>
              <a:t>Each switch maintains a switching or forwarding table</a:t>
            </a:r>
          </a:p>
          <a:p>
            <a:r>
              <a:rPr lang="en-US" sz="1800" dirty="0"/>
              <a:t>The table shows what line an incoming packet should be forwarded to based on packet destination</a:t>
            </a:r>
          </a:p>
          <a:p>
            <a:endParaRPr lang="en-US" sz="1800" dirty="0"/>
          </a:p>
          <a:p>
            <a:r>
              <a:rPr lang="en-US" sz="1800" dirty="0"/>
              <a:t>IMPORTANT: Packet switching is stateless – each packet is handled separately (in isolation).</a:t>
            </a:r>
          </a:p>
          <a:p>
            <a:pPr lvl="1"/>
            <a:r>
              <a:rPr lang="en-US" sz="1400" dirty="0"/>
              <a:t>Why?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AF5FFD-EEC1-666F-B4E5-1C8C0D827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705" y="590510"/>
            <a:ext cx="2873668" cy="22917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A0B483-9D5D-5442-B8D8-0A789A23C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365" y="746603"/>
            <a:ext cx="2873668" cy="1975646"/>
          </a:xfrm>
          <a:prstGeom prst="rect">
            <a:avLst/>
          </a:prstGeom>
        </p:spPr>
      </p:pic>
      <p:pic>
        <p:nvPicPr>
          <p:cNvPr id="6" name="Picture 5" descr="A diagram of a number of switches&#10;&#10;Description automatically generated">
            <a:extLst>
              <a:ext uri="{FF2B5EF4-FFF2-40B4-BE49-F238E27FC236}">
                <a16:creationId xmlns:a16="http://schemas.microsoft.com/office/drawing/2014/main" id="{7C7ED311-108B-15AB-5CC1-8827D74CB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749" y="3109523"/>
            <a:ext cx="5095240" cy="3057143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67F9556-A740-726D-49D8-39AB8F406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334/534 Networking | Ragib Hasan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9BBDDF-CB5E-AA29-DDAA-B7D53E8B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1D63C-0F31-4447-ACEC-8CDBA490915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65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E0E579-DFD9-D508-14E8-220D6F87B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522" y="591829"/>
            <a:ext cx="3939688" cy="5583126"/>
          </a:xfrm>
        </p:spPr>
        <p:txBody>
          <a:bodyPr>
            <a:normAutofit/>
          </a:bodyPr>
          <a:lstStyle/>
          <a:p>
            <a:r>
              <a:rPr lang="en-US" sz="7400"/>
              <a:t>Switches vs Routers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3111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91891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17571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B0A95-8FBC-C3F1-1404-CC726B27F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60000"/>
                  </a:schemeClr>
                </a:solidFill>
              </a:rPr>
              <a:t>CS 334/534 Networking | Ragib Hasan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01903-D26E-0112-33C6-9033ED22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951D63C-0F31-4447-ACEC-8CDBA4909159}" type="slidenum">
              <a:rPr lang="en-US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60285F86-8272-C9B3-FCF4-55C05CD683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3941678"/>
              </p:ext>
            </p:extLst>
          </p:nvPr>
        </p:nvGraphicFramePr>
        <p:xfrm>
          <a:off x="5492710" y="671805"/>
          <a:ext cx="5861090" cy="550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2383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1191</Words>
  <Application>Microsoft Macintosh PowerPoint</Application>
  <PresentationFormat>Widescreen</PresentationFormat>
  <Paragraphs>121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PowerPoint Presentation</vt:lpstr>
      <vt:lpstr>Lecture goals</vt:lpstr>
      <vt:lpstr>Fundamental question</vt:lpstr>
      <vt:lpstr>Let’s take a step back and think about the challenges!</vt:lpstr>
      <vt:lpstr>So, how do we solve this (messy) problem?</vt:lpstr>
      <vt:lpstr>Let’s do an analogy</vt:lpstr>
      <vt:lpstr>Network Layers</vt:lpstr>
      <vt:lpstr>The idea of a “Layer”</vt:lpstr>
      <vt:lpstr>What does each layer do?</vt:lpstr>
      <vt:lpstr>How fast and how much?</vt:lpstr>
      <vt:lpstr>Bits, Bytes, bps, Bps</vt:lpstr>
      <vt:lpstr>Packet</vt:lpstr>
      <vt:lpstr>Do we want large or small packets?</vt:lpstr>
      <vt:lpstr>Packet headers</vt:lpstr>
      <vt:lpstr>How packets move?</vt:lpstr>
      <vt:lpstr>How packets move?</vt:lpstr>
      <vt:lpstr>Switches vs Routers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Hasan, Ragib</dc:creator>
  <cp:lastModifiedBy>Hasan, Ragib</cp:lastModifiedBy>
  <cp:revision>1</cp:revision>
  <dcterms:created xsi:type="dcterms:W3CDTF">2025-01-14T18:13:17Z</dcterms:created>
  <dcterms:modified xsi:type="dcterms:W3CDTF">2025-01-15T07:55:27Z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2025-01-14T18:14:06Z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d4c98dbd-e509-40b3-9c9d-2e5f7b0a1f65</vt:lpwstr>
  </property>
  <property fmtid="{D5CDD505-2E9C-101B-9397-08002B2CF9AE}" pid="8" name="MSIP_Label_ae7542bc-63e5-412b-b0a0-d9586028a7d0_ContentBits">
    <vt:lpwstr>0</vt:lpwstr>
  </property>
</Properties>
</file>