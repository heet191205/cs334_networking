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3DA8BE-8431-6D45-AEBB-C6DDAB292947}" v="10" dt="2025-02-21T08:53:43.6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8"/>
  </p:normalViewPr>
  <p:slideViewPr>
    <p:cSldViewPr snapToGrid="0">
      <p:cViewPr varScale="1">
        <p:scale>
          <a:sx n="102" d="100"/>
          <a:sy n="102" d="100"/>
        </p:scale>
        <p:origin x="19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AC1E1-0E2F-2082-6C1F-35F48C2FD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EAD862-D3F2-6D26-C959-CFA0FC2C8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46D12-DC2F-71C0-996D-59AC2F05A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BA5F9-9B58-7549-888E-4296595E0462}" type="datetimeFigureOut">
              <a:rPr lang="en-US" smtClean="0"/>
              <a:t>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3129D-139D-29C8-059C-312D0105C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38417-568A-A9B0-A589-7E2F4710C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1619-0E2E-2F40-A446-D3AC607FA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783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EA9B1-750B-359C-F700-96F1AE6E6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70F36-56A4-6120-2A72-0F71D4B0F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4ACEC-3E76-0635-60C6-E292EEE6F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BA5F9-9B58-7549-888E-4296595E0462}" type="datetimeFigureOut">
              <a:rPr lang="en-US" smtClean="0"/>
              <a:t>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87B3F-D785-A3AA-464A-9CBEBDF0F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38772-1750-236A-2E6F-3D60A673C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1619-0E2E-2F40-A446-D3AC607FA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41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6AD0D-0032-16AC-C874-FCD383899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EF815-5000-4AE8-C972-15B1C9678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DAF86-4906-6762-D691-F7B2C623A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BA5F9-9B58-7549-888E-4296595E0462}" type="datetimeFigureOut">
              <a:rPr lang="en-US" smtClean="0"/>
              <a:t>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F0ACB-171A-2923-D073-AD2BA5B7B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C4EE9-91A5-962A-55CC-781D3DB19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1619-0E2E-2F40-A446-D3AC607FA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291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7FBE4-69B7-6CC2-08F2-8E0706649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CE51C-5215-337D-EAF2-D88B64C25E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50F8E-91A4-4F8C-5B97-9E14E9190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0F1C40-C3FC-C383-971F-D86B48460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BA5F9-9B58-7549-888E-4296595E0462}" type="datetimeFigureOut">
              <a:rPr lang="en-US" smtClean="0"/>
              <a:t>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59D79-7936-35BE-3B11-7FC4A8F13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691A3-1C2E-CEBA-CED1-50B028C63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1619-0E2E-2F40-A446-D3AC607FA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79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C4D5F-ABD8-26C2-837A-77D6A766A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69E6B-FA78-80F8-0C92-46A0E5C92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85CB3D-4105-8FF0-62B9-EC69A1DCB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939D63-CA00-AB29-7B42-708ED83D96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101DF6-9690-824C-34B7-9E7CD463D7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4FDC77-7055-C775-38E1-7084DCE7F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BA5F9-9B58-7549-888E-4296595E0462}" type="datetimeFigureOut">
              <a:rPr lang="en-US" smtClean="0"/>
              <a:t>2/21/25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5C1A-57BC-3B0E-6578-A0504E80B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16FFF6-47BC-9539-859D-83CC92958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1619-0E2E-2F40-A446-D3AC607FA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4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64A3-93C3-3835-B438-40A5ABB53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3F55BC-E2EB-44DA-1348-6DD7AD189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BA5F9-9B58-7549-888E-4296595E0462}" type="datetimeFigureOut">
              <a:rPr lang="en-US" smtClean="0"/>
              <a:t>2/21/25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876465-1901-4E2B-DD61-D13ECF4E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BEE0F4-4E92-B421-23FF-1616C0195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1619-0E2E-2F40-A446-D3AC607FA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31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2D5616-D497-3D9F-0C41-A08CB4CDE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BA5F9-9B58-7549-888E-4296595E0462}" type="datetimeFigureOut">
              <a:rPr lang="en-US" smtClean="0"/>
              <a:t>2/21/25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7E4D66-6764-33B8-1234-6E6D95E35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EC173-8FE4-C2B6-21CC-0703EDF4D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1619-0E2E-2F40-A446-D3AC607FA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875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DBCE3-403E-3C45-32EA-727F3FC00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86C81-75BF-3087-CB99-5C762A4DF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755C6-D8DA-B993-0A1A-17B3074F5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6BBF6-11AB-41C2-2A5B-4F4DD8880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BA5F9-9B58-7549-888E-4296595E0462}" type="datetimeFigureOut">
              <a:rPr lang="en-US" smtClean="0"/>
              <a:t>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9BE736-4074-E414-9492-1E72DA01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3E0A5-F1A9-0507-CFB9-9353D2E5B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1619-0E2E-2F40-A446-D3AC607FA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899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DD686-E291-DE0E-5160-018EA4281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2E48E9-0F7D-A997-2363-2134D9A1C8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BAB154-8B7B-8315-FBD9-174034818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CBAA3-BEC1-08B0-E920-FD1A1CCD9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BA5F9-9B58-7549-888E-4296595E0462}" type="datetimeFigureOut">
              <a:rPr lang="en-US" smtClean="0"/>
              <a:t>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0FB9DB-B7FF-3165-B7FF-0EDD6D396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4700A-5A36-FC81-B3EE-105313B56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1619-0E2E-2F40-A446-D3AC607FA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887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CEF5-BA1E-07A4-23B6-682E81BC4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6FCFE-7EA2-C724-F4A7-7191AC912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BAC0D-8908-E9A8-B56A-A117959D9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BA5F9-9B58-7549-888E-4296595E0462}" type="datetimeFigureOut">
              <a:rPr lang="en-US" smtClean="0"/>
              <a:t>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3A264-2EC5-A98F-DF91-5129470F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E2435-081E-5FFB-167D-1902E01F4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1619-0E2E-2F40-A446-D3AC607FA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558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9EE312-ABBE-9049-2C69-A4661D7136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295137-A321-62EF-9E51-5F5F751817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5C034-EF5C-2401-DAB5-4A3259B6E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BA5F9-9B58-7549-888E-4296595E0462}" type="datetimeFigureOut">
              <a:rPr lang="en-US" smtClean="0"/>
              <a:t>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C60C5-5D01-21BA-C832-33812EF55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27196-BA18-8189-6473-27C1932E3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1619-0E2E-2F40-A446-D3AC607FA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36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AA6F3-2D08-E598-D113-5FBD3B808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2CF51-D0A5-7F42-9002-85196F9FB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08CA5-44FB-BFB2-B778-D4E23E81F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7BA5F9-9B58-7549-888E-4296595E0462}" type="datetimeFigureOut">
              <a:rPr lang="en-US" smtClean="0"/>
              <a:t>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8F3F-BB67-A66A-8C06-50360902ED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64022-B397-2021-7F77-6F4A81C0EE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DF1619-0E2E-2F40-A446-D3AC607FA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69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C97239-A507-235A-2F0C-D0518DF3B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9222"/>
            <a:ext cx="12192000" cy="68622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1C8AC0-1034-CAD5-9ABA-5026E6910151}"/>
              </a:ext>
            </a:extLst>
          </p:cNvPr>
          <p:cNvSpPr txBox="1"/>
          <p:nvPr/>
        </p:nvSpPr>
        <p:spPr>
          <a:xfrm>
            <a:off x="1323027" y="4369774"/>
            <a:ext cx="53861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Dr. Ragib Hasan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400" b="1" dirty="0"/>
              <a:t>Lecture 5.5: </a:t>
            </a:r>
          </a:p>
          <a:p>
            <a:r>
              <a:rPr lang="en-US" sz="2400"/>
              <a:t>NAT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46267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3ADA-1A70-184C-1F90-7A86C99CB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IPv4 addresses are in short supply, how do we support so many devices?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9A384-45EE-A192-F297-55DC5DA24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IPv4 addresses are almost fully used up, so new organizations can’t get a large enough IP address block anymore</a:t>
            </a:r>
          </a:p>
          <a:p>
            <a:endParaRPr lang="en-US" dirty="0"/>
          </a:p>
          <a:p>
            <a:r>
              <a:rPr lang="en-US" dirty="0"/>
              <a:t>But organizations need a way to have many users in its network, with distinct IP addresses</a:t>
            </a:r>
          </a:p>
          <a:p>
            <a:endParaRPr lang="en-US" dirty="0"/>
          </a:p>
          <a:p>
            <a:r>
              <a:rPr lang="en-US" dirty="0"/>
              <a:t>Solution?</a:t>
            </a:r>
          </a:p>
        </p:txBody>
      </p:sp>
    </p:spTree>
    <p:extLst>
      <p:ext uri="{BB962C8B-B14F-4D97-AF65-F5344CB8AC3E}">
        <p14:creationId xmlns:p14="http://schemas.microsoft.com/office/powerpoint/2010/main" val="2661375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03F7A-9A31-9C49-D279-A655D231E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IP addresses??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CD80B-6AEB-9E30-57AE-D193F4747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special IP address range 192.168.0.0/16 can be used for IP addresses of local machines inside the network</a:t>
            </a:r>
          </a:p>
          <a:p>
            <a:endParaRPr lang="en-US" dirty="0"/>
          </a:p>
          <a:p>
            <a:r>
              <a:rPr lang="en-US" dirty="0"/>
              <a:t>That allows each organization to have as many local hosts as needed. Each host is assigned an IP address from the local IP address range.</a:t>
            </a:r>
          </a:p>
          <a:p>
            <a:endParaRPr lang="en-US" dirty="0"/>
          </a:p>
          <a:p>
            <a:r>
              <a:rPr lang="en-US" dirty="0"/>
              <a:t>What is the challenge here?</a:t>
            </a:r>
          </a:p>
        </p:txBody>
      </p:sp>
    </p:spTree>
    <p:extLst>
      <p:ext uri="{BB962C8B-B14F-4D97-AF65-F5344CB8AC3E}">
        <p14:creationId xmlns:p14="http://schemas.microsoft.com/office/powerpoint/2010/main" val="538337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D4EC3-A68A-4823-CB31-C255F84B2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Private IP addresses solve the IP address issue, but how do we communicate with such a local host?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D7C53-4504-BD2D-9216-C30A38196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host has a unique public IP address, anyone on the Internet can send a packet to the host</a:t>
            </a:r>
          </a:p>
          <a:p>
            <a:endParaRPr lang="en-US" dirty="0"/>
          </a:p>
          <a:p>
            <a:r>
              <a:rPr lang="en-US" dirty="0"/>
              <a:t>But local IP addresses won’t be unique</a:t>
            </a:r>
          </a:p>
          <a:p>
            <a:endParaRPr lang="en-US" dirty="0"/>
          </a:p>
          <a:p>
            <a:r>
              <a:rPr lang="en-US" dirty="0"/>
              <a:t>192.168.0.5 may be the IP address of millions of computers inside home or local networks</a:t>
            </a:r>
          </a:p>
          <a:p>
            <a:endParaRPr lang="en-US" dirty="0"/>
          </a:p>
          <a:p>
            <a:r>
              <a:rPr lang="en-US" dirty="0"/>
              <a:t>How can an external host communicate with such a host??</a:t>
            </a:r>
          </a:p>
        </p:txBody>
      </p:sp>
    </p:spTree>
    <p:extLst>
      <p:ext uri="{BB962C8B-B14F-4D97-AF65-F5344CB8AC3E}">
        <p14:creationId xmlns:p14="http://schemas.microsoft.com/office/powerpoint/2010/main" val="2667045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4CFC1-EC66-7336-6AF0-9A2B5441C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exactly is the problem?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E0F86-ACA3-4EE3-6D85-6155A08D1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to support many more hosts than there are available public IP addresses</a:t>
            </a:r>
          </a:p>
          <a:p>
            <a:endParaRPr lang="en-US" dirty="0"/>
          </a:p>
          <a:p>
            <a:r>
              <a:rPr lang="en-US" dirty="0"/>
              <a:t>We need to be able to communicate with such hosts from outside the organization</a:t>
            </a:r>
          </a:p>
        </p:txBody>
      </p:sp>
    </p:spTree>
    <p:extLst>
      <p:ext uri="{BB962C8B-B14F-4D97-AF65-F5344CB8AC3E}">
        <p14:creationId xmlns:p14="http://schemas.microsoft.com/office/powerpoint/2010/main" val="1165890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E9210-B433-0D99-C0E9-9C5A9767F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Address multiplexing!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69596-607C-A461-8678-25BD8AF87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Hunch: We can “share” an IP address among multiple internal hosts</a:t>
            </a:r>
          </a:p>
          <a:p>
            <a:endParaRPr lang="en-US" dirty="0"/>
          </a:p>
          <a:p>
            <a:r>
              <a:rPr lang="en-US" dirty="0"/>
              <a:t>A router is assigned the public IP address, the internal hosts are given internal addresses and they are connected to this router</a:t>
            </a:r>
          </a:p>
          <a:p>
            <a:endParaRPr lang="en-US" dirty="0"/>
          </a:p>
          <a:p>
            <a:r>
              <a:rPr lang="en-US" dirty="0"/>
              <a:t>The internal hosts use the router to communicate with the outside world</a:t>
            </a:r>
          </a:p>
          <a:p>
            <a:endParaRPr lang="en-US" dirty="0"/>
          </a:p>
          <a:p>
            <a:r>
              <a:rPr lang="en-US" dirty="0"/>
              <a:t>This approach is called “Network address translation (NAT)”</a:t>
            </a:r>
          </a:p>
        </p:txBody>
      </p:sp>
    </p:spTree>
    <p:extLst>
      <p:ext uri="{BB962C8B-B14F-4D97-AF65-F5344CB8AC3E}">
        <p14:creationId xmlns:p14="http://schemas.microsoft.com/office/powerpoint/2010/main" val="2278998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77DC9-E67E-8075-CD72-FE4CA0E3E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DEBAC-9D71-FEC1-8EA2-B540D2882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Main concept: </a:t>
            </a:r>
            <a:r>
              <a:rPr lang="en-US" dirty="0"/>
              <a:t>Instead of assigning each host at a site a publicly visible IPv4 address, just one such address is assigned to a special device known as a NAT router</a:t>
            </a:r>
          </a:p>
          <a:p>
            <a:endParaRPr lang="en-US" dirty="0"/>
          </a:p>
          <a:p>
            <a:r>
              <a:rPr lang="en-US" dirty="0"/>
              <a:t>Wait a minute, have you seen a NAT router already?</a:t>
            </a:r>
          </a:p>
          <a:p>
            <a:endParaRPr lang="en-US" dirty="0"/>
          </a:p>
          <a:p>
            <a:pPr lvl="1"/>
            <a:r>
              <a:rPr lang="en-US" dirty="0"/>
              <a:t>Yes! Your good old home </a:t>
            </a:r>
            <a:r>
              <a:rPr lang="en-US" dirty="0" err="1"/>
              <a:t>wifi</a:t>
            </a:r>
            <a:r>
              <a:rPr lang="en-US" dirty="0"/>
              <a:t> router is actually an example of a NAT router!</a:t>
            </a:r>
          </a:p>
          <a:p>
            <a:pPr lvl="1"/>
            <a:r>
              <a:rPr lang="en-US" dirty="0"/>
              <a:t>Inside your home, all local devices get a local private IP (192.168.x.x)</a:t>
            </a:r>
          </a:p>
          <a:p>
            <a:pPr lvl="1"/>
            <a:r>
              <a:rPr lang="en-US" dirty="0"/>
              <a:t>But to the outside world, these IP addresses are invisible – the outside world only sees the router’s IP address (which you get assigned from your ISP)</a:t>
            </a:r>
          </a:p>
        </p:txBody>
      </p:sp>
    </p:spTree>
    <p:extLst>
      <p:ext uri="{BB962C8B-B14F-4D97-AF65-F5344CB8AC3E}">
        <p14:creationId xmlns:p14="http://schemas.microsoft.com/office/powerpoint/2010/main" val="2484769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9155-15F5-721D-3001-89AD678FB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NAT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9148B-589B-7F75-EF33-656396C5B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When an internal machine wants to connect to the outside, the NAT router intercepts the connection</a:t>
            </a:r>
          </a:p>
          <a:p>
            <a:pPr lvl="1"/>
            <a:r>
              <a:rPr lang="en-US" dirty="0"/>
              <a:t>Why? Why can’t it send let the IP packet go to the outside as is?</a:t>
            </a:r>
          </a:p>
          <a:p>
            <a:pPr lvl="1"/>
            <a:endParaRPr lang="en-US" dirty="0"/>
          </a:p>
          <a:p>
            <a:r>
              <a:rPr lang="en-US" dirty="0"/>
              <a:t>For example, let’s say host A with IP address 192.168.0.6 is sending a packet to the external host B with IP address 213.25.63.25</a:t>
            </a:r>
          </a:p>
          <a:p>
            <a:pPr lvl="1"/>
            <a:r>
              <a:rPr lang="en-US" dirty="0"/>
              <a:t>What are the source and destination IP addresses in this packet?</a:t>
            </a:r>
          </a:p>
          <a:p>
            <a:pPr lvl="1"/>
            <a:r>
              <a:rPr lang="en-US" dirty="0"/>
              <a:t>Source: 192.168.0.6, destination:213.25.63.25</a:t>
            </a:r>
          </a:p>
          <a:p>
            <a:pPr lvl="1"/>
            <a:r>
              <a:rPr lang="en-US" dirty="0"/>
              <a:t>Is this a problem?</a:t>
            </a:r>
          </a:p>
          <a:p>
            <a:r>
              <a:rPr lang="en-US" dirty="0"/>
              <a:t>It is not a problem if the communication were one-sided (i.e. A to B only)</a:t>
            </a:r>
          </a:p>
          <a:p>
            <a:r>
              <a:rPr lang="en-US" dirty="0"/>
              <a:t>But how can B send a reply back to A?</a:t>
            </a:r>
          </a:p>
          <a:p>
            <a:r>
              <a:rPr lang="en-US" dirty="0"/>
              <a:t>Without NAT, B can’t! Why not?</a:t>
            </a:r>
          </a:p>
          <a:p>
            <a:r>
              <a:rPr lang="en-US" dirty="0"/>
              <a:t>B has A’s private address, which isn’t useful to send back a reply (millions of hosts have internal </a:t>
            </a:r>
            <a:r>
              <a:rPr lang="en-US" dirty="0" err="1"/>
              <a:t>ip</a:t>
            </a:r>
            <a:r>
              <a:rPr lang="en-US" dirty="0"/>
              <a:t> addresses in 192.168.0.0 private networks). </a:t>
            </a:r>
          </a:p>
        </p:txBody>
      </p:sp>
    </p:spTree>
    <p:extLst>
      <p:ext uri="{BB962C8B-B14F-4D97-AF65-F5344CB8AC3E}">
        <p14:creationId xmlns:p14="http://schemas.microsoft.com/office/powerpoint/2010/main" val="3880323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C3B11-6F28-EA7C-3321-D25AA119E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Solution? Rewrite!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3695A-214B-B82B-C173-729DB0857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make sure the reply comes back to the correct network, the NAT router must remove the sender’s IP address and replace it with the router’s public address</a:t>
            </a:r>
          </a:p>
          <a:p>
            <a:endParaRPr lang="en-US" dirty="0"/>
          </a:p>
          <a:p>
            <a:r>
              <a:rPr lang="en-US" dirty="0"/>
              <a:t>The NAT router forwards the connection’s packets after rewriting the source address to make it appear they came from the NAT router’s own IP address,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12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B2848440-2AD0-A8E6-1153-A3DF15242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 NAT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F89A5F-0D2B-FE55-F988-9B85331E2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276942"/>
            <a:ext cx="10905066" cy="318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436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D89D0E-1B91-4AB9-F53B-0F8D73B01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 NAT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08C49-B4B3-20D7-87F3-F5AEC9C89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2400" dirty="0"/>
              <a:t>Here, the NAT router’s public IP is 200.1.2.37</a:t>
            </a:r>
          </a:p>
          <a:p>
            <a:pPr marL="0" indent="0" algn="ctr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 outgoing packet from the network will have the sender’s IP replaced by the router’s external IP 200.1.2.37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8A0A87-677B-47E4-69E9-8A1445A33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37627"/>
            <a:ext cx="11548872" cy="337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214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0D2C1-CA68-017C-7CC7-B7883E618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Is that all?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F2D6F-3ACF-2631-B03C-F7C073609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So far, we solved 2 problems</a:t>
            </a:r>
          </a:p>
          <a:p>
            <a:pPr lvl="1"/>
            <a:r>
              <a:rPr lang="en-US" sz="2000"/>
              <a:t>A single external IP address can be shared among multiple internal hosts</a:t>
            </a:r>
          </a:p>
          <a:p>
            <a:pPr lvl="1"/>
            <a:r>
              <a:rPr lang="en-US" sz="2000"/>
              <a:t>Replies will be sent to the correct network router since the sender’s IP address is replaced with the router’s public IP address</a:t>
            </a:r>
          </a:p>
          <a:p>
            <a:r>
              <a:rPr lang="en-US" sz="2000"/>
              <a:t>What is missing?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67324B-B580-E593-DD9E-4062C6085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588149"/>
            <a:ext cx="5150277" cy="150645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171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480268-A45F-CBF6-FF41-920113328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9"/>
            <a:ext cx="3132550" cy="1713850"/>
          </a:xfrm>
        </p:spPr>
        <p:txBody>
          <a:bodyPr>
            <a:normAutofit fontScale="90000"/>
          </a:bodyPr>
          <a:lstStyle/>
          <a:p>
            <a:r>
              <a:rPr lang="en-US" sz="3400" dirty="0"/>
              <a:t>How does the router know which internal host to forward the packet to?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CA15C0-F2D3-587E-B597-7FD90213C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490" y="704504"/>
            <a:ext cx="5723565" cy="1674142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A265F-374E-27C2-D768-0D745497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8640" y="2574274"/>
            <a:ext cx="7515617" cy="3889156"/>
          </a:xfrm>
        </p:spPr>
        <p:txBody>
          <a:bodyPr>
            <a:normAutofit/>
          </a:bodyPr>
          <a:lstStyle/>
          <a:p>
            <a:r>
              <a:rPr lang="en-US" sz="1800" dirty="0"/>
              <a:t>The router gets a packet from the external host, the packet comes with the router’s public IP as the destination.</a:t>
            </a:r>
          </a:p>
          <a:p>
            <a:endParaRPr lang="en-US" sz="1800" dirty="0"/>
          </a:p>
          <a:p>
            <a:r>
              <a:rPr lang="en-US" sz="1800" dirty="0"/>
              <a:t>Which internal host should receive this packet?</a:t>
            </a:r>
          </a:p>
          <a:p>
            <a:endParaRPr lang="en-US" sz="1800" dirty="0"/>
          </a:p>
          <a:p>
            <a:r>
              <a:rPr lang="en-US" sz="1800" dirty="0"/>
              <a:t>The NAT router “remembers” who sent the packet to the external host</a:t>
            </a:r>
          </a:p>
          <a:p>
            <a:r>
              <a:rPr lang="en-US" sz="1800" dirty="0"/>
              <a:t>When receiving packets from that external host, the NAT router replaces the IP address in the packet with the correct internal host’s internal IP address</a:t>
            </a:r>
          </a:p>
          <a:p>
            <a:endParaRPr lang="en-US" sz="1800" dirty="0"/>
          </a:p>
          <a:p>
            <a:r>
              <a:rPr lang="en-US" sz="1800" dirty="0"/>
              <a:t>Great! Does that solve the problem?</a:t>
            </a:r>
          </a:p>
        </p:txBody>
      </p:sp>
    </p:spTree>
    <p:extLst>
      <p:ext uri="{BB962C8B-B14F-4D97-AF65-F5344CB8AC3E}">
        <p14:creationId xmlns:p14="http://schemas.microsoft.com/office/powerpoint/2010/main" val="1012113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2AF8C-0D7E-2453-09ED-61596975F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there are two hosts talking to the external host?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C0300-822F-C8AB-98E1-51D57D2FA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If only 1 internal host talked to the outside host, just remembering who it was works</a:t>
            </a:r>
          </a:p>
          <a:p>
            <a:endParaRPr lang="en-US" dirty="0"/>
          </a:p>
          <a:p>
            <a:r>
              <a:rPr lang="en-US" dirty="0"/>
              <a:t>But if there are more than one internal host talking to the outside host, then how can the NAT router figure out who to send the incoming packet to?</a:t>
            </a:r>
          </a:p>
          <a:p>
            <a:endParaRPr lang="en-US" dirty="0"/>
          </a:p>
          <a:p>
            <a:r>
              <a:rPr lang="en-US" dirty="0"/>
              <a:t>Solution: remember more things about each connection!</a:t>
            </a:r>
          </a:p>
          <a:p>
            <a:r>
              <a:rPr lang="en-US" dirty="0"/>
              <a:t>The extra info? Port number</a:t>
            </a:r>
          </a:p>
          <a:p>
            <a:r>
              <a:rPr lang="en-US" dirty="0"/>
              <a:t>What’s a port number? It’s a number identifying a specific service in a given host. &lt;IP, port&gt; pairs represent a network connection</a:t>
            </a:r>
          </a:p>
        </p:txBody>
      </p:sp>
    </p:spTree>
    <p:extLst>
      <p:ext uri="{BB962C8B-B14F-4D97-AF65-F5344CB8AC3E}">
        <p14:creationId xmlns:p14="http://schemas.microsoft.com/office/powerpoint/2010/main" val="2419817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0BDCA-0B39-EF83-394D-694EAA47B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 router forwarding table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F3AB1-DF53-9029-E8D7-D6C54CA68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45907"/>
            <a:ext cx="10515600" cy="213105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table contains info on local host’s inside and outside port info, and the external host it’s connecting to</a:t>
            </a:r>
          </a:p>
          <a:p>
            <a:r>
              <a:rPr lang="en-US" dirty="0"/>
              <a:t>For example, suppose inside host A and B are connecting to outside host S and T on port 80</a:t>
            </a:r>
          </a:p>
          <a:p>
            <a:r>
              <a:rPr lang="en-US" dirty="0"/>
              <a:t>That is, &lt;A, 3000&gt; is connecting to &lt;S, 80&gt;</a:t>
            </a:r>
          </a:p>
          <a:p>
            <a:pPr lvl="1"/>
            <a:r>
              <a:rPr lang="en-US" dirty="0"/>
              <a:t>Packet from &lt;A, 3000&gt; will be rewritten as &lt;NAT router, 3000&gt; by the NAT router</a:t>
            </a:r>
          </a:p>
          <a:p>
            <a:pPr lvl="1"/>
            <a:r>
              <a:rPr lang="en-US" dirty="0" err="1"/>
              <a:t>Packlet</a:t>
            </a:r>
            <a:r>
              <a:rPr lang="en-US" dirty="0"/>
              <a:t> from &lt;S, 80&gt; to &lt;NR, 3000&gt; will be rewritten by the </a:t>
            </a:r>
            <a:r>
              <a:rPr lang="en-US" dirty="0" err="1"/>
              <a:t>nat</a:t>
            </a:r>
            <a:r>
              <a:rPr lang="en-US" dirty="0"/>
              <a:t> router as &lt;A, 3000&gt;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22546C-753A-520A-CDDB-4BE80E049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753" y="2103437"/>
            <a:ext cx="7772400" cy="111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600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7AFA9-A366-4531-102E-884390D04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two internal hosts want to connect to the same external host and same port?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26B0B-08A5-4A07-EE72-C34C67983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059444" cy="239564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Suppose both A and B want to connect to &lt;S, 80&gt;</a:t>
            </a:r>
          </a:p>
          <a:p>
            <a:r>
              <a:rPr lang="en-US" dirty="0"/>
              <a:t>Solution? Remap the NAT router’s external port and remember that.</a:t>
            </a:r>
          </a:p>
          <a:p>
            <a:endParaRPr lang="en-US" dirty="0"/>
          </a:p>
          <a:p>
            <a:r>
              <a:rPr lang="en-US" dirty="0"/>
              <a:t>Example: Change B’s external port from 3000 to 3001. So, packets sent to A are sent to the router at port 3000, while to B are sent to the router’s port 3001.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7B5D45-FF6B-52E5-0FDF-F314B7415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01" y="4490818"/>
            <a:ext cx="9525933" cy="163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33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D93E3-4EA4-0073-B111-6B6222A5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NAT advantages?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DA491-9816-E8BB-A9F4-B9272D96A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External sites can’t scan internal hosts</a:t>
            </a:r>
          </a:p>
          <a:p>
            <a:pPr lvl="1"/>
            <a:r>
              <a:rPr lang="en-US" dirty="0"/>
              <a:t>Why?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780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4355</TotalTime>
  <Words>1088</Words>
  <Application>Microsoft Macintosh PowerPoint</Application>
  <PresentationFormat>Widescreen</PresentationFormat>
  <Paragraphs>101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Office Theme</vt:lpstr>
      <vt:lpstr>PowerPoint Presentation</vt:lpstr>
      <vt:lpstr>If IPv4 addresses are in short supply, how do we support so many devices?</vt:lpstr>
      <vt:lpstr>Private IP addresses??</vt:lpstr>
      <vt:lpstr>Private IP addresses solve the IP address issue, but how do we communicate with such a local host?</vt:lpstr>
      <vt:lpstr>What exactly is the problem?</vt:lpstr>
      <vt:lpstr>Solution: Address multiplexing!</vt:lpstr>
      <vt:lpstr>NAT</vt:lpstr>
      <vt:lpstr>How does NAT work?</vt:lpstr>
      <vt:lpstr>Solution? Rewrite!</vt:lpstr>
      <vt:lpstr>Example NAT</vt:lpstr>
      <vt:lpstr>Example NAT</vt:lpstr>
      <vt:lpstr>Is that all?</vt:lpstr>
      <vt:lpstr>How does the router know which internal host to forward the packet to?</vt:lpstr>
      <vt:lpstr>What if there are two hosts talking to the external host?</vt:lpstr>
      <vt:lpstr>NAT router forwarding table </vt:lpstr>
      <vt:lpstr>What if two internal hosts want to connect to the same external host and same port?</vt:lpstr>
      <vt:lpstr>Other NAT advantages?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Hasan, Ragib</dc:creator>
  <cp:lastModifiedBy>Hasan, Ragib</cp:lastModifiedBy>
  <cp:revision>1</cp:revision>
  <dcterms:created xsi:type="dcterms:W3CDTF">2025-02-21T07:31:17Z</dcterms:created>
  <dcterms:modified xsi:type="dcterms:W3CDTF">2025-02-24T08:13:06Z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e7542bc-63e5-412b-b0a0-d9586028a7d0_Enabled">
    <vt:lpwstr>true</vt:lpwstr>
  </property>
  <property fmtid="{D5CDD505-2E9C-101B-9397-08002B2CF9AE}" pid="3" name="MSIP_Label_ae7542bc-63e5-412b-b0a0-d9586028a7d0_SetDate">
    <vt:lpwstr>2025-02-21T07:37:06Z</vt:lpwstr>
  </property>
  <property fmtid="{D5CDD505-2E9C-101B-9397-08002B2CF9AE}" pid="4" name="MSIP_Label_ae7542bc-63e5-412b-b0a0-d9586028a7d0_Method">
    <vt:lpwstr>Standard</vt:lpwstr>
  </property>
  <property fmtid="{D5CDD505-2E9C-101B-9397-08002B2CF9AE}" pid="5" name="MSIP_Label_ae7542bc-63e5-412b-b0a0-d9586028a7d0_Name">
    <vt:lpwstr>Sensitive</vt:lpwstr>
  </property>
  <property fmtid="{D5CDD505-2E9C-101B-9397-08002B2CF9AE}" pid="6" name="MSIP_Label_ae7542bc-63e5-412b-b0a0-d9586028a7d0_SiteId">
    <vt:lpwstr>d8999fe4-76af-40b3-b435-1d8977abc08c</vt:lpwstr>
  </property>
  <property fmtid="{D5CDD505-2E9C-101B-9397-08002B2CF9AE}" pid="7" name="MSIP_Label_ae7542bc-63e5-412b-b0a0-d9586028a7d0_ActionId">
    <vt:lpwstr>504cf74c-8fa2-4183-aee0-5b49dc8c7e92</vt:lpwstr>
  </property>
  <property fmtid="{D5CDD505-2E9C-101B-9397-08002B2CF9AE}" pid="8" name="MSIP_Label_ae7542bc-63e5-412b-b0a0-d9586028a7d0_ContentBits">
    <vt:lpwstr>0</vt:lpwstr>
  </property>
  <property fmtid="{D5CDD505-2E9C-101B-9397-08002B2CF9AE}" pid="9" name="MSIP_Label_ae7542bc-63e5-412b-b0a0-d9586028a7d0_Tag">
    <vt:lpwstr>50, 3, 0, 1</vt:lpwstr>
  </property>
</Properties>
</file>