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89" r:id="rId3"/>
    <p:sldId id="290" r:id="rId4"/>
    <p:sldId id="291" r:id="rId5"/>
    <p:sldId id="292" r:id="rId6"/>
    <p:sldId id="287" r:id="rId7"/>
    <p:sldId id="28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8"/>
  </p:normalViewPr>
  <p:slideViewPr>
    <p:cSldViewPr snapToGrid="0">
      <p:cViewPr varScale="1">
        <p:scale>
          <a:sx n="113" d="100"/>
          <a:sy n="113" d="100"/>
        </p:scale>
        <p:origin x="9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F3E9-1806-C57B-B9C0-2953B7542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8101E-62AE-1A7D-6F67-DDFFAC6DC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474C1-B5B2-D3CC-7F20-F5D539C95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4439-5C16-D949-BD2B-4C305BE63EAA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46A89-DF63-8E09-AEFD-9B4398AD6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F8C4-F340-2842-F1E2-AC02EF5A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E611-AF13-664A-ABB2-001F4A7D8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07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C0692-390A-A7E3-8418-AA864F76E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9372B-2418-6A22-2C37-7DD1D36AE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9AB6E-0676-DDD2-BFCB-BAC7C6C2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4439-5C16-D949-BD2B-4C305BE63EAA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B226A-FFB4-60DD-D900-69053E4A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126E0-A03E-40B8-93B4-136BA617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E611-AF13-664A-ABB2-001F4A7D8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59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4F5FA-1443-EBE9-F38E-60AE7166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F0D2F-134B-6375-F3D8-B19C1FF78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2D0EF-1F0F-150C-8C43-64030190B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4439-5C16-D949-BD2B-4C305BE63EAA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6AD00-1F66-2C83-8A23-ECF470358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B550C-EFE6-671E-B532-6605F2CF7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E611-AF13-664A-ABB2-001F4A7D8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47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235EA-083E-284E-3014-37F250D27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02D1A-C99F-D49B-71CE-369989507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9C64F-452A-761C-D46B-6EB544592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ACB7B-AAF4-8297-46F8-79354CD72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4439-5C16-D949-BD2B-4C305BE63EAA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3BC3A-FCC0-2F35-EE4F-A6BBFD0E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F581B-9357-78AD-B2A3-07B47298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E611-AF13-664A-ABB2-001F4A7D8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48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E85B0-8317-B2AB-03B6-54F460932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5841D-20C8-6C3E-331C-336FAB8AE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9D3B5-5663-675B-3EAB-C6D20004F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5B595A-E954-6DC8-E8D8-5A392FEDA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77F96E-2950-11C2-F977-0DE920465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F110B7-8385-307A-15A8-6732010E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4439-5C16-D949-BD2B-4C305BE63EAA}" type="datetimeFigureOut">
              <a:rPr lang="en-US" smtClean="0"/>
              <a:t>2/20/25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7F601A-96DE-A2E9-DD76-33F787328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9472D7-80F6-078C-0D31-EF9EFD790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E611-AF13-664A-ABB2-001F4A7D8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4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12B2D-2038-2778-80C6-D50F6A42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C21B4A-4DE5-DBA5-ECB5-EC4BD160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4439-5C16-D949-BD2B-4C305BE63EAA}" type="datetimeFigureOut">
              <a:rPr lang="en-US" smtClean="0"/>
              <a:t>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656367-3DF1-1C96-5D75-0B26F4ED0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C9B6C-D83E-9B42-4859-7F4499BF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E611-AF13-664A-ABB2-001F4A7D8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27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3C5A8B-8229-0807-9B0D-5D5574FC8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4439-5C16-D949-BD2B-4C305BE63EAA}" type="datetimeFigureOut">
              <a:rPr lang="en-US" smtClean="0"/>
              <a:t>2/20/25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D3046A-250C-AD97-8A6A-3F9AD7150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2B5E6-9579-B603-1604-9F778F6DA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E611-AF13-664A-ABB2-001F4A7D8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725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C83E4-0075-2F10-6F34-98F05EB64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31DA4-0707-F2FB-C8A4-F6E8FC134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54FA1-D010-0225-8009-1D208138B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6808D-43F5-754C-9E33-622FE82B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4439-5C16-D949-BD2B-4C305BE63EAA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6E881-1DB1-EE6E-7211-255FF507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7E568-053B-7701-B92D-999F122A2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E611-AF13-664A-ABB2-001F4A7D8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31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8D6F1-C277-A148-29E9-84B036BEE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11260D-B8DB-859A-D234-60D5031229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97B52-3495-0351-118D-5EBF9ADFF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81C33-58DF-7E21-3A28-F86790CC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4439-5C16-D949-BD2B-4C305BE63EAA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98818-0231-9B18-67AB-EBDC91F7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009CE-EE2A-79D4-83CE-FABF018A5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E611-AF13-664A-ABB2-001F4A7D8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21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A2B32-B02B-7F2D-7223-6E3C01184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E4E091-D0AF-96A6-F8B5-C78751827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02E97-87F0-E613-0B4C-49A0A9C00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4439-5C16-D949-BD2B-4C305BE63EAA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111A2-524A-6AB8-CEBE-9BF1CB7D4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736B8-F1B8-B519-BEDA-776685F1B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E611-AF13-664A-ABB2-001F4A7D8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44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BCD7E8-DFD1-08CD-43CF-88753CC07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63790-776C-2D69-43DB-6032F199F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FC94D-BBEE-ED21-0FED-A96E602C5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4439-5C16-D949-BD2B-4C305BE63EAA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2B7CD-7A48-3B48-BCF0-4EB50B1F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D3992-6267-9DFC-877A-003EFB61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E611-AF13-664A-ABB2-001F4A7D8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28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C2B497-58B6-B48D-D1D5-503A107A8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9F5C8-CAC7-3854-99E9-21067B108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8D8E3-95FF-936D-AA04-F00C24ED5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874439-5C16-D949-BD2B-4C305BE63EAA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9D9FE-9CB9-E119-31CE-F4DFAA109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70743-D55B-20DA-EA3C-07F4C31A2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5E611-AF13-664A-ABB2-001F4A7D8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68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www.icann.or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C97239-A507-235A-2F0C-D0518DF3B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222"/>
            <a:ext cx="12192000" cy="68622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1C8AC0-1034-CAD5-9ABA-5026E6910151}"/>
              </a:ext>
            </a:extLst>
          </p:cNvPr>
          <p:cNvSpPr txBox="1"/>
          <p:nvPr/>
        </p:nvSpPr>
        <p:spPr>
          <a:xfrm>
            <a:off x="1323027" y="4369774"/>
            <a:ext cx="53861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Dr. Ragib Hasan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400" b="1" dirty="0"/>
              <a:t>Lecture 5.4: </a:t>
            </a:r>
          </a:p>
          <a:p>
            <a:r>
              <a:rPr lang="en-US" sz="2400" dirty="0"/>
              <a:t>IP </a:t>
            </a:r>
            <a:r>
              <a:rPr lang="en-US" sz="2400"/>
              <a:t>Address assignment, DHCP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6267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3F9A2-B2BB-7D08-C619-981C5E88C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IP addresses assigned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BA1E8-3382-EA7A-511A-9FB23055D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multiple stages </a:t>
            </a:r>
          </a:p>
          <a:p>
            <a:pPr lvl="1"/>
            <a:r>
              <a:rPr lang="en-US" dirty="0"/>
              <a:t>ISP gets a chunk of IP address range</a:t>
            </a:r>
          </a:p>
          <a:p>
            <a:pPr lvl="1"/>
            <a:r>
              <a:rPr lang="en-US" dirty="0"/>
              <a:t>The chunk of addresses within an ISP is broken into multiple subnets</a:t>
            </a:r>
          </a:p>
          <a:p>
            <a:pPr lvl="1"/>
            <a:r>
              <a:rPr lang="en-US" dirty="0"/>
              <a:t>A host joining a subnet either gets the IP address statically assigned (needs hard coded IP address allocation), OR is dynamically assigned an IP address via the DHCP protocol.</a:t>
            </a:r>
          </a:p>
        </p:txBody>
      </p:sp>
    </p:spTree>
    <p:extLst>
      <p:ext uri="{BB962C8B-B14F-4D97-AF65-F5344CB8AC3E}">
        <p14:creationId xmlns:p14="http://schemas.microsoft.com/office/powerpoint/2010/main" val="1152594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7DBE5-33FE-CBC0-9AAD-CDA843F8A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DHCP: Dynamic Host Configuration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2079C-F002-1292-E7EE-7ADBAF2A2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connected to the </a:t>
            </a:r>
            <a:r>
              <a:rPr lang="en-US" dirty="0" err="1"/>
              <a:t>WiFi</a:t>
            </a:r>
            <a:r>
              <a:rPr lang="en-US" dirty="0"/>
              <a:t> network in this room, your phone or laptop has used DHCP to be assigned an IP address</a:t>
            </a:r>
          </a:p>
          <a:p>
            <a:endParaRPr lang="en-US" dirty="0"/>
          </a:p>
          <a:p>
            <a:r>
              <a:rPr lang="en-US" dirty="0"/>
              <a:t>DHCP overview:</a:t>
            </a:r>
          </a:p>
          <a:p>
            <a:pPr lvl="1"/>
            <a:r>
              <a:rPr lang="en-US" dirty="0"/>
              <a:t>host broadcasts DHCP discover msg [optional]</a:t>
            </a:r>
          </a:p>
          <a:p>
            <a:pPr lvl="1"/>
            <a:r>
              <a:rPr lang="en-US" dirty="0"/>
              <a:t>DHCP server responds with DHCP offer msg [optional]</a:t>
            </a:r>
          </a:p>
          <a:p>
            <a:pPr lvl="1"/>
            <a:r>
              <a:rPr lang="en-US" dirty="0"/>
              <a:t>host requests IP address: DHCP request msg</a:t>
            </a:r>
          </a:p>
          <a:p>
            <a:pPr lvl="1"/>
            <a:r>
              <a:rPr lang="en-US" dirty="0"/>
              <a:t>DHCP server sends address: DHCP ack msg</a:t>
            </a:r>
          </a:p>
        </p:txBody>
      </p:sp>
    </p:spTree>
    <p:extLst>
      <p:ext uri="{BB962C8B-B14F-4D97-AF65-F5344CB8AC3E}">
        <p14:creationId xmlns:p14="http://schemas.microsoft.com/office/powerpoint/2010/main" val="542768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5632B-F68F-0C92-6BFB-3D111BE70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9A5C2D-21F6-32DC-F821-52AA15BB4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818132"/>
            <a:ext cx="5067300" cy="3733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15E65D-96F8-D1BF-37C0-73D51225803B}"/>
              </a:ext>
            </a:extLst>
          </p:cNvPr>
          <p:cNvSpPr txBox="1"/>
          <p:nvPr/>
        </p:nvSpPr>
        <p:spPr>
          <a:xfrm>
            <a:off x="6754368" y="1818132"/>
            <a:ext cx="29870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DHCP Server is included in each network to deal with IP address allocation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Usually, it’s collocated with the access point or router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1F5048-B4F5-AC9E-C763-E05B9DD35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892" y="3976901"/>
            <a:ext cx="3784600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01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E197-5F9E-A3C3-E002-B763B71AC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6C135-C85A-56D3-CC8A-43EC89D68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604" y="1338326"/>
            <a:ext cx="7747000" cy="4864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1C172B-3A34-A566-71E1-B69410402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478" y="1411383"/>
            <a:ext cx="4102100" cy="1714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F752EF-3058-0452-8592-28B6ABE77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152" y="1364076"/>
            <a:ext cx="4584700" cy="1612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F6312E-E182-83A8-4755-D10AE68251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054" y="2553097"/>
            <a:ext cx="4216400" cy="1308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B11298-65CC-3DB7-9C3A-51172D8CDF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8246" y="2560241"/>
            <a:ext cx="4394200" cy="127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34A119-89B1-2559-D990-829EF9312C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380" y="3660719"/>
            <a:ext cx="4406900" cy="1358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D97872-299A-AEB0-54EE-2A70E0F837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7520" y="3685619"/>
            <a:ext cx="4470400" cy="1231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E4E6E4-D597-9ECB-7EF6-A5CE244EC7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6628" y="4897024"/>
            <a:ext cx="4216400" cy="1193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22A3F0-65DD-0695-B1F4-6382DCCFA6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7728" y="4860115"/>
            <a:ext cx="43942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99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B5232-E211-B0EE-1F9A-E3105183D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r>
              <a:rPr lang="en-US" sz="3900"/>
              <a:t>How are IP addresses assigned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90184-F6DD-4B0B-7A0A-5F99207F1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2426214"/>
            <a:ext cx="11106912" cy="4328151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How does a network or 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ISP get 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its IP address block?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An organization named ICANN: Internet Corporation for Assigned Names and Numbers (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hlinkClick r:id="rId2"/>
              </a:rPr>
              <a:t>http://www.icann.org/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) manages the global IP address ranges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Internet Assigned Numbers Authority (IANA) within ICANN allocates IP address ranges to 5 regional registries</a:t>
            </a:r>
          </a:p>
          <a:p>
            <a:pPr lvl="2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ARIN: North America</a:t>
            </a:r>
          </a:p>
          <a:p>
            <a:pPr lvl="2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APNIC: Asia Pacific</a:t>
            </a:r>
          </a:p>
          <a:p>
            <a:pPr lvl="2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RIPE NCC: Europe</a:t>
            </a:r>
          </a:p>
          <a:p>
            <a:pPr lvl="2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LACNIC: Latin America</a:t>
            </a:r>
          </a:p>
          <a:p>
            <a:pPr lvl="2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AFRINIC: Africa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ICANN also manages DNS root zone, including delegation of individual Top Level Domain (.com, .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edu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, …) management etc.</a:t>
            </a:r>
          </a:p>
          <a:p>
            <a:pPr lvl="1"/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C115A39-5CB9-9A81-6C9D-180E7A5C9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32993" y="618952"/>
            <a:ext cx="3920201" cy="173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508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45323-8B83-8279-4D4E-8C9AC193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we out of IP addresses?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CD7FE-8974-3C7C-2ACE-89DA5AE36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As of 2017, 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four out of five (APNIC, RIPE, LACNIC, ARIN) of the Regional Internet Registries (RIRs) have run out of freely available IPv4 address space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</a:p>
          <a:p>
            <a:endParaRPr lang="en-US" dirty="0">
              <a:solidFill>
                <a:srgbClr val="1F1F1F"/>
              </a:solidFill>
              <a:latin typeface="Google Sans"/>
            </a:endParaRPr>
          </a:p>
          <a:p>
            <a:r>
              <a:rPr lang="en-US" dirty="0">
                <a:solidFill>
                  <a:srgbClr val="1F1F1F"/>
                </a:solidFill>
                <a:latin typeface="Google Sans"/>
              </a:rPr>
              <a:t>Some companies got allocated huge IP address blocks (e.g., class A /8 networks)</a:t>
            </a:r>
          </a:p>
          <a:p>
            <a:pPr lvl="1"/>
            <a:r>
              <a:rPr lang="en-US" dirty="0">
                <a:solidFill>
                  <a:srgbClr val="1F1F1F"/>
                </a:solidFill>
                <a:latin typeface="Google Sans"/>
              </a:rPr>
              <a:t>Apple owns 17.0.0.0/8	</a:t>
            </a:r>
          </a:p>
          <a:p>
            <a:pPr lvl="1"/>
            <a:endParaRPr lang="en-US" dirty="0">
              <a:solidFill>
                <a:srgbClr val="1F1F1F"/>
              </a:solidFill>
              <a:latin typeface="Google Sans"/>
            </a:endParaRPr>
          </a:p>
          <a:p>
            <a:pPr lvl="1"/>
            <a:r>
              <a:rPr lang="en-US" dirty="0"/>
              <a:t>Mercedez owns 53.0.0.0/8	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MIT has 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18.0.0.0/8</a:t>
            </a:r>
          </a:p>
          <a:p>
            <a:endParaRPr lang="en-US" dirty="0"/>
          </a:p>
          <a:p>
            <a:r>
              <a:rPr lang="en-US" dirty="0"/>
              <a:t>How did they get such a large range? </a:t>
            </a:r>
          </a:p>
        </p:txBody>
      </p:sp>
    </p:spTree>
    <p:extLst>
      <p:ext uri="{BB962C8B-B14F-4D97-AF65-F5344CB8AC3E}">
        <p14:creationId xmlns:p14="http://schemas.microsoft.com/office/powerpoint/2010/main" val="1777641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Microsoft Macintosh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Google Sans</vt:lpstr>
      <vt:lpstr>Office Theme</vt:lpstr>
      <vt:lpstr>PowerPoint Presentation</vt:lpstr>
      <vt:lpstr>How are IP addresses assigned</vt:lpstr>
      <vt:lpstr>DHCP: Dynamic Host Configuration Protocol</vt:lpstr>
      <vt:lpstr>DHCP Example</vt:lpstr>
      <vt:lpstr>DHCP</vt:lpstr>
      <vt:lpstr>How are IP addresses assigned</vt:lpstr>
      <vt:lpstr>Are we out of IP addresses?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Hasan, Ragib</dc:creator>
  <cp:lastModifiedBy>Hasan, Ragib</cp:lastModifiedBy>
  <cp:revision>1</cp:revision>
  <dcterms:created xsi:type="dcterms:W3CDTF">2025-02-21T00:55:23Z</dcterms:created>
  <dcterms:modified xsi:type="dcterms:W3CDTF">2025-02-21T00:56:03Z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2025-02-21T00:56:02Z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2a8209b6-3500-4f57-92e2-08193bce0909</vt:lpwstr>
  </property>
  <property fmtid="{D5CDD505-2E9C-101B-9397-08002B2CF9AE}" pid="8" name="MSIP_Label_ae7542bc-63e5-412b-b0a0-d9586028a7d0_ContentBits">
    <vt:lpwstr>0</vt:lpwstr>
  </property>
  <property fmtid="{D5CDD505-2E9C-101B-9397-08002B2CF9AE}" pid="9" name="MSIP_Label_ae7542bc-63e5-412b-b0a0-d9586028a7d0_Tag">
    <vt:lpwstr>50, 3, 0, 1</vt:lpwstr>
  </property>
</Properties>
</file>